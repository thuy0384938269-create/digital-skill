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Bree Serif" charset="1" panose="02000503040000020004"/>
      <p:regular r:id="rId13"/>
    </p:embeddedFont>
    <p:embeddedFont>
      <p:font typeface="Codec Pro" charset="1" panose="000005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6.pn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1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png" Type="http://schemas.openxmlformats.org/officeDocument/2006/relationships/image"/><Relationship Id="rId12" Target="../media/image25.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30.png" Type="http://schemas.openxmlformats.org/officeDocument/2006/relationships/image"/><Relationship Id="rId2" Target="../media/image26.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 Id="rId9" Target="../media/image2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12" Target="../media/image31.pn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3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16" Target="../media/image16.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4ED"/>
        </a:solidFill>
      </p:bgPr>
    </p:bg>
    <p:spTree>
      <p:nvGrpSpPr>
        <p:cNvPr id="1" name=""/>
        <p:cNvGrpSpPr/>
        <p:nvPr/>
      </p:nvGrpSpPr>
      <p:grpSpPr>
        <a:xfrm>
          <a:off x="0" y="0"/>
          <a:ext cx="0" cy="0"/>
          <a:chOff x="0" y="0"/>
          <a:chExt cx="0" cy="0"/>
        </a:xfrm>
      </p:grpSpPr>
      <p:sp>
        <p:nvSpPr>
          <p:cNvPr name="TextBox 2" id="2"/>
          <p:cNvSpPr txBox="true"/>
          <p:nvPr/>
        </p:nvSpPr>
        <p:spPr>
          <a:xfrm rot="0">
            <a:off x="5871030" y="1234840"/>
            <a:ext cx="6545941" cy="836043"/>
          </a:xfrm>
          <a:prstGeom prst="rect">
            <a:avLst/>
          </a:prstGeom>
        </p:spPr>
        <p:txBody>
          <a:bodyPr anchor="t" rtlCol="false" tIns="0" lIns="0" bIns="0" rIns="0">
            <a:spAutoFit/>
          </a:bodyPr>
          <a:lstStyle/>
          <a:p>
            <a:pPr algn="ctr" marL="0" indent="0" lvl="0">
              <a:lnSpc>
                <a:spcPts val="6254"/>
              </a:lnSpc>
            </a:pPr>
            <a:r>
              <a:rPr lang="en-US" sz="6447">
                <a:solidFill>
                  <a:srgbClr val="005162"/>
                </a:solidFill>
                <a:latin typeface="Bree Serif"/>
                <a:ea typeface="Bree Serif"/>
                <a:cs typeface="Bree Serif"/>
                <a:sym typeface="Bree Serif"/>
              </a:rPr>
              <a:t>Cơ Chế Cách Điện</a:t>
            </a:r>
          </a:p>
        </p:txBody>
      </p:sp>
      <p:sp>
        <p:nvSpPr>
          <p:cNvPr name="Freeform 3" id="3"/>
          <p:cNvSpPr/>
          <p:nvPr/>
        </p:nvSpPr>
        <p:spPr>
          <a:xfrm flipH="false" flipV="false" rot="1420155">
            <a:off x="14109856" y="-2039566"/>
            <a:ext cx="4128147" cy="4684237"/>
          </a:xfrm>
          <a:custGeom>
            <a:avLst/>
            <a:gdLst/>
            <a:ahLst/>
            <a:cxnLst/>
            <a:rect r="r" b="b" t="t" l="l"/>
            <a:pathLst>
              <a:path h="4684237" w="4128147">
                <a:moveTo>
                  <a:pt x="0" y="0"/>
                </a:moveTo>
                <a:lnTo>
                  <a:pt x="4128147" y="0"/>
                </a:lnTo>
                <a:lnTo>
                  <a:pt x="4128147" y="4684237"/>
                </a:lnTo>
                <a:lnTo>
                  <a:pt x="0" y="46842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45437" y="8334868"/>
            <a:ext cx="6890996" cy="2997583"/>
          </a:xfrm>
          <a:custGeom>
            <a:avLst/>
            <a:gdLst/>
            <a:ahLst/>
            <a:cxnLst/>
            <a:rect r="r" b="b" t="t" l="l"/>
            <a:pathLst>
              <a:path h="2997583" w="6890996">
                <a:moveTo>
                  <a:pt x="0" y="0"/>
                </a:moveTo>
                <a:lnTo>
                  <a:pt x="6890996" y="0"/>
                </a:lnTo>
                <a:lnTo>
                  <a:pt x="6890996" y="2997583"/>
                </a:lnTo>
                <a:lnTo>
                  <a:pt x="0" y="2997583"/>
                </a:lnTo>
                <a:lnTo>
                  <a:pt x="0" y="0"/>
                </a:lnTo>
                <a:close/>
              </a:path>
            </a:pathLst>
          </a:custGeom>
          <a:blipFill>
            <a:blip r:embed="rId4"/>
            <a:stretch>
              <a:fillRect l="0" t="0" r="0" b="0"/>
            </a:stretch>
          </a:blipFill>
        </p:spPr>
      </p:sp>
      <p:sp>
        <p:nvSpPr>
          <p:cNvPr name="Freeform 5" id="5"/>
          <p:cNvSpPr/>
          <p:nvPr/>
        </p:nvSpPr>
        <p:spPr>
          <a:xfrm flipH="false" flipV="false" rot="0">
            <a:off x="-927050" y="-4697616"/>
            <a:ext cx="6172103" cy="6172103"/>
          </a:xfrm>
          <a:custGeom>
            <a:avLst/>
            <a:gdLst/>
            <a:ahLst/>
            <a:cxnLst/>
            <a:rect r="r" b="b" t="t" l="l"/>
            <a:pathLst>
              <a:path h="6172103" w="6172103">
                <a:moveTo>
                  <a:pt x="0" y="0"/>
                </a:moveTo>
                <a:lnTo>
                  <a:pt x="6172103" y="0"/>
                </a:lnTo>
                <a:lnTo>
                  <a:pt x="6172103" y="6172102"/>
                </a:lnTo>
                <a:lnTo>
                  <a:pt x="0" y="61721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6387813">
            <a:off x="263088" y="-158984"/>
            <a:ext cx="3472860" cy="3562928"/>
          </a:xfrm>
          <a:custGeom>
            <a:avLst/>
            <a:gdLst/>
            <a:ahLst/>
            <a:cxnLst/>
            <a:rect r="r" b="b" t="t" l="l"/>
            <a:pathLst>
              <a:path h="3562928" w="3472860">
                <a:moveTo>
                  <a:pt x="0" y="0"/>
                </a:moveTo>
                <a:lnTo>
                  <a:pt x="3472859" y="0"/>
                </a:lnTo>
                <a:lnTo>
                  <a:pt x="3472859" y="3562927"/>
                </a:lnTo>
                <a:lnTo>
                  <a:pt x="0" y="35629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5816991" y="3276283"/>
            <a:ext cx="4942018" cy="4114800"/>
          </a:xfrm>
          <a:custGeom>
            <a:avLst/>
            <a:gdLst/>
            <a:ahLst/>
            <a:cxnLst/>
            <a:rect r="r" b="b" t="t" l="l"/>
            <a:pathLst>
              <a:path h="4114800" w="4942018">
                <a:moveTo>
                  <a:pt x="0" y="0"/>
                </a:moveTo>
                <a:lnTo>
                  <a:pt x="4942018" y="0"/>
                </a:lnTo>
                <a:lnTo>
                  <a:pt x="4942018" y="4114800"/>
                </a:lnTo>
                <a:lnTo>
                  <a:pt x="0" y="4114800"/>
                </a:lnTo>
                <a:lnTo>
                  <a:pt x="0" y="0"/>
                </a:lnTo>
                <a:close/>
              </a:path>
            </a:pathLst>
          </a:custGeom>
          <a:blipFill>
            <a:blip r:embed="rId9">
              <a:alphaModFix amt="47000"/>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2023967">
            <a:off x="15710219" y="-794297"/>
            <a:ext cx="4029021" cy="3223217"/>
          </a:xfrm>
          <a:custGeom>
            <a:avLst/>
            <a:gdLst/>
            <a:ahLst/>
            <a:cxnLst/>
            <a:rect r="r" b="b" t="t" l="l"/>
            <a:pathLst>
              <a:path h="3223217" w="4029021">
                <a:moveTo>
                  <a:pt x="0" y="0"/>
                </a:moveTo>
                <a:lnTo>
                  <a:pt x="4029021" y="0"/>
                </a:lnTo>
                <a:lnTo>
                  <a:pt x="4029021" y="3223217"/>
                </a:lnTo>
                <a:lnTo>
                  <a:pt x="0" y="322321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2700000">
            <a:off x="-1631012" y="7549953"/>
            <a:ext cx="5863679" cy="3059774"/>
          </a:xfrm>
          <a:custGeom>
            <a:avLst/>
            <a:gdLst/>
            <a:ahLst/>
            <a:cxnLst/>
            <a:rect r="r" b="b" t="t" l="l"/>
            <a:pathLst>
              <a:path h="3059774" w="5863679">
                <a:moveTo>
                  <a:pt x="0" y="0"/>
                </a:moveTo>
                <a:lnTo>
                  <a:pt x="5863679" y="0"/>
                </a:lnTo>
                <a:lnTo>
                  <a:pt x="5863679" y="3059774"/>
                </a:lnTo>
                <a:lnTo>
                  <a:pt x="0" y="305977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0" id="10"/>
          <p:cNvSpPr txBox="true"/>
          <p:nvPr/>
        </p:nvSpPr>
        <p:spPr>
          <a:xfrm rot="0">
            <a:off x="3546235" y="2477456"/>
            <a:ext cx="7643566" cy="2438259"/>
          </a:xfrm>
          <a:prstGeom prst="rect">
            <a:avLst/>
          </a:prstGeom>
        </p:spPr>
        <p:txBody>
          <a:bodyPr anchor="t" rtlCol="false" tIns="0" lIns="0" bIns="0" rIns="0">
            <a:spAutoFit/>
          </a:bodyPr>
          <a:lstStyle/>
          <a:p>
            <a:pPr algn="l" marL="0" indent="0" lvl="0">
              <a:lnSpc>
                <a:spcPts val="2763"/>
              </a:lnSpc>
            </a:pPr>
            <a:r>
              <a:rPr lang="en-US" sz="1974" spc="21">
                <a:solidFill>
                  <a:srgbClr val="000000"/>
                </a:solidFill>
                <a:latin typeface="Codec Pro"/>
                <a:ea typeface="Codec Pro"/>
                <a:cs typeface="Codec Pro"/>
                <a:sym typeface="Codec Pro"/>
              </a:rPr>
              <a:t>Vì sao vật liệu cách điện ngăn dòng điện?</a:t>
            </a:r>
          </a:p>
          <a:p>
            <a:pPr algn="l" marL="0" indent="0" lvl="0">
              <a:lnSpc>
                <a:spcPts val="2763"/>
              </a:lnSpc>
            </a:pPr>
            <a:r>
              <a:rPr lang="en-US" sz="1974" spc="21">
                <a:solidFill>
                  <a:srgbClr val="000000"/>
                </a:solidFill>
                <a:latin typeface="Codec Pro"/>
                <a:ea typeface="Codec Pro"/>
                <a:cs typeface="Codec Pro"/>
                <a:sym typeface="Codec Pro"/>
              </a:rPr>
              <a:t>Vật liệu cách điện có cấu trúc nguyên tử với các electron liên kết chặt chẽ, không thể di chuyển tự do. Không có electron tự do đồng nghĩa với không có dòng điện. Điện trở suất của vật liệu cách điện có thể đạt 10¹⁶ Ω·m, cao hơn kim loại hàng tỷ lần. Ví dụ: cao su, nhựa PVC, thủy tinh, gốm sứ đều là chất cách điện phổ biến.</a:t>
            </a:r>
          </a:p>
        </p:txBody>
      </p:sp>
      <p:sp>
        <p:nvSpPr>
          <p:cNvPr name="TextBox 11" id="11"/>
          <p:cNvSpPr txBox="true"/>
          <p:nvPr/>
        </p:nvSpPr>
        <p:spPr>
          <a:xfrm rot="0">
            <a:off x="7368019" y="5328093"/>
            <a:ext cx="7643566" cy="2438259"/>
          </a:xfrm>
          <a:prstGeom prst="rect">
            <a:avLst/>
          </a:prstGeom>
        </p:spPr>
        <p:txBody>
          <a:bodyPr anchor="t" rtlCol="false" tIns="0" lIns="0" bIns="0" rIns="0">
            <a:spAutoFit/>
          </a:bodyPr>
          <a:lstStyle/>
          <a:p>
            <a:pPr algn="l" marL="0" indent="0" lvl="0">
              <a:lnSpc>
                <a:spcPts val="2763"/>
              </a:lnSpc>
            </a:pPr>
            <a:r>
              <a:rPr lang="en-US" sz="1974" spc="21">
                <a:solidFill>
                  <a:srgbClr val="000000"/>
                </a:solidFill>
                <a:latin typeface="Codec Pro"/>
                <a:ea typeface="Codec Pro"/>
                <a:cs typeface="Codec Pro"/>
                <a:sym typeface="Codec Pro"/>
              </a:rPr>
              <a:t>Ảnh hưởng của môi trường đến khả năng cách điện:</a:t>
            </a:r>
          </a:p>
          <a:p>
            <a:pPr algn="l" marL="0" indent="0" lvl="0">
              <a:lnSpc>
                <a:spcPts val="2763"/>
              </a:lnSpc>
            </a:pPr>
            <a:r>
              <a:rPr lang="en-US" sz="1974" spc="21">
                <a:solidFill>
                  <a:srgbClr val="000000"/>
                </a:solidFill>
                <a:latin typeface="Codec Pro"/>
                <a:ea typeface="Codec Pro"/>
                <a:cs typeface="Codec Pro"/>
                <a:sym typeface="Codec Pro"/>
              </a:rPr>
              <a:t>• Độ ẩm: Nước hấp thụ vào bề mặt tạo lớp dẫn điện, làm giảm điện trở đáng kể.</a:t>
            </a:r>
          </a:p>
          <a:p>
            <a:pPr algn="l" marL="0" indent="0" lvl="0">
              <a:lnSpc>
                <a:spcPts val="2763"/>
              </a:lnSpc>
            </a:pPr>
            <a:r>
              <a:rPr lang="en-US" sz="1974" spc="21">
                <a:solidFill>
                  <a:srgbClr val="000000"/>
                </a:solidFill>
                <a:latin typeface="Codec Pro"/>
                <a:ea typeface="Codec Pro"/>
                <a:cs typeface="Codec Pro"/>
                <a:sym typeface="Codec Pro"/>
              </a:rPr>
              <a:t>• Nhiệt độ: Nhiệt độ cao làm phân tử dao động mạnh, tăng độ dẫn điện, giảm hiệu quả cách điện.</a:t>
            </a:r>
          </a:p>
          <a:p>
            <a:pPr algn="l" marL="0" indent="0" lvl="0">
              <a:lnSpc>
                <a:spcPts val="2763"/>
              </a:lnSpc>
            </a:pPr>
            <a:r>
              <a:rPr lang="en-US" sz="1974" spc="21">
                <a:solidFill>
                  <a:srgbClr val="000000"/>
                </a:solidFill>
                <a:latin typeface="Codec Pro"/>
                <a:ea typeface="Codec Pro"/>
                <a:cs typeface="Codec Pro"/>
                <a:sym typeface="Codec Pro"/>
              </a:rPr>
              <a:t>• Bề mặt: Bụi bẩn, dầu mỡ hoặc vết nứt tạo đường dẫn điện nguy hiểm, gây rò rỉ dòng điện.</a:t>
            </a:r>
          </a:p>
        </p:txBody>
      </p:sp>
      <p:sp>
        <p:nvSpPr>
          <p:cNvPr name="Freeform 12" id="12"/>
          <p:cNvSpPr/>
          <p:nvPr/>
        </p:nvSpPr>
        <p:spPr>
          <a:xfrm flipH="false" flipV="false" rot="0">
            <a:off x="13440500" y="8207185"/>
            <a:ext cx="5216563" cy="5249372"/>
          </a:xfrm>
          <a:custGeom>
            <a:avLst/>
            <a:gdLst/>
            <a:ahLst/>
            <a:cxnLst/>
            <a:rect r="r" b="b" t="t" l="l"/>
            <a:pathLst>
              <a:path h="5249372" w="5216563">
                <a:moveTo>
                  <a:pt x="0" y="0"/>
                </a:moveTo>
                <a:lnTo>
                  <a:pt x="5216563" y="0"/>
                </a:lnTo>
                <a:lnTo>
                  <a:pt x="5216563" y="5249372"/>
                </a:lnTo>
                <a:lnTo>
                  <a:pt x="0" y="5249372"/>
                </a:lnTo>
                <a:lnTo>
                  <a:pt x="0" y="0"/>
                </a:lnTo>
                <a:close/>
              </a:path>
            </a:pathLst>
          </a:custGeom>
          <a:blipFill>
            <a:blip r:embed="rId15"/>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4ED"/>
        </a:solidFill>
      </p:bgPr>
    </p:bg>
    <p:spTree>
      <p:nvGrpSpPr>
        <p:cNvPr id="1" name=""/>
        <p:cNvGrpSpPr/>
        <p:nvPr/>
      </p:nvGrpSpPr>
      <p:grpSpPr>
        <a:xfrm>
          <a:off x="0" y="0"/>
          <a:ext cx="0" cy="0"/>
          <a:chOff x="0" y="0"/>
          <a:chExt cx="0" cy="0"/>
        </a:xfrm>
      </p:grpSpPr>
      <p:sp>
        <p:nvSpPr>
          <p:cNvPr name="TextBox 2" id="2"/>
          <p:cNvSpPr txBox="true"/>
          <p:nvPr/>
        </p:nvSpPr>
        <p:spPr>
          <a:xfrm rot="0">
            <a:off x="5871030" y="1285503"/>
            <a:ext cx="6545941" cy="785380"/>
          </a:xfrm>
          <a:prstGeom prst="rect">
            <a:avLst/>
          </a:prstGeom>
        </p:spPr>
        <p:txBody>
          <a:bodyPr anchor="t" rtlCol="false" tIns="0" lIns="0" bIns="0" rIns="0">
            <a:spAutoFit/>
          </a:bodyPr>
          <a:lstStyle/>
          <a:p>
            <a:pPr algn="ctr" marL="0" indent="0" lvl="0">
              <a:lnSpc>
                <a:spcPts val="5837"/>
              </a:lnSpc>
            </a:pPr>
            <a:r>
              <a:rPr lang="en-US" sz="6017">
                <a:solidFill>
                  <a:srgbClr val="005162"/>
                </a:solidFill>
                <a:latin typeface="Bree Serif"/>
                <a:ea typeface="Bree Serif"/>
                <a:cs typeface="Bree Serif"/>
                <a:sym typeface="Bree Serif"/>
              </a:rPr>
              <a:t>Vật Liệu Cách Điện</a:t>
            </a:r>
          </a:p>
        </p:txBody>
      </p:sp>
      <p:sp>
        <p:nvSpPr>
          <p:cNvPr name="TextBox 3" id="3"/>
          <p:cNvSpPr txBox="true"/>
          <p:nvPr/>
        </p:nvSpPr>
        <p:spPr>
          <a:xfrm rot="0">
            <a:off x="3546235" y="2627693"/>
            <a:ext cx="11195529" cy="1807721"/>
          </a:xfrm>
          <a:prstGeom prst="rect">
            <a:avLst/>
          </a:prstGeom>
        </p:spPr>
        <p:txBody>
          <a:bodyPr anchor="t" rtlCol="false" tIns="0" lIns="0" bIns="0" rIns="0">
            <a:spAutoFit/>
          </a:bodyPr>
          <a:lstStyle/>
          <a:p>
            <a:pPr algn="l" marL="0" indent="0" lvl="0">
              <a:lnSpc>
                <a:spcPts val="2848"/>
              </a:lnSpc>
            </a:pPr>
            <a:r>
              <a:rPr lang="en-US" sz="2034" spc="22">
                <a:solidFill>
                  <a:srgbClr val="000000"/>
                </a:solidFill>
                <a:latin typeface="Codec Pro"/>
                <a:ea typeface="Codec Pro"/>
                <a:cs typeface="Codec Pro"/>
                <a:sym typeface="Codec Pro"/>
              </a:rPr>
              <a:t>Vật liệu cách điện là gì?</a:t>
            </a:r>
          </a:p>
          <a:p>
            <a:pPr algn="l" marL="0" indent="0" lvl="0">
              <a:lnSpc>
                <a:spcPts val="2848"/>
              </a:lnSpc>
            </a:pPr>
            <a:r>
              <a:rPr lang="en-US" sz="2034" spc="22">
                <a:solidFill>
                  <a:srgbClr val="000000"/>
                </a:solidFill>
                <a:latin typeface="Codec Pro"/>
                <a:ea typeface="Codec Pro"/>
                <a:cs typeface="Codec Pro"/>
                <a:sym typeface="Codec Pro"/>
              </a:rPr>
              <a:t>Vật liệu cách điện (hay điện môi) là những chất có khả năng ngăn chặn dòng điện truyền qua. Khác với kim loại dẫn điện, các vật liệu này có điện trở suất rất cao, giúp cách ly các phần mang điện khỏi môi trường xung quanh. Ví dụ phổ biến: nhựa PVC, cao su, gốm sứ, thủy tinh và không khí khô.</a:t>
            </a:r>
          </a:p>
        </p:txBody>
      </p:sp>
      <p:sp>
        <p:nvSpPr>
          <p:cNvPr name="Freeform 4" id="4"/>
          <p:cNvSpPr/>
          <p:nvPr/>
        </p:nvSpPr>
        <p:spPr>
          <a:xfrm flipH="false" flipV="false" rot="1420155">
            <a:off x="-1455873" y="6220447"/>
            <a:ext cx="4128147" cy="4684237"/>
          </a:xfrm>
          <a:custGeom>
            <a:avLst/>
            <a:gdLst/>
            <a:ahLst/>
            <a:cxnLst/>
            <a:rect r="r" b="b" t="t" l="l"/>
            <a:pathLst>
              <a:path h="4684237" w="4128147">
                <a:moveTo>
                  <a:pt x="0" y="0"/>
                </a:moveTo>
                <a:lnTo>
                  <a:pt x="4128148" y="0"/>
                </a:lnTo>
                <a:lnTo>
                  <a:pt x="4128148" y="4684237"/>
                </a:lnTo>
                <a:lnTo>
                  <a:pt x="0" y="46842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868291" y="8281233"/>
            <a:ext cx="6577450" cy="3362722"/>
          </a:xfrm>
          <a:custGeom>
            <a:avLst/>
            <a:gdLst/>
            <a:ahLst/>
            <a:cxnLst/>
            <a:rect r="r" b="b" t="t" l="l"/>
            <a:pathLst>
              <a:path h="3362722" w="6577450">
                <a:moveTo>
                  <a:pt x="0" y="0"/>
                </a:moveTo>
                <a:lnTo>
                  <a:pt x="6577450" y="0"/>
                </a:lnTo>
                <a:lnTo>
                  <a:pt x="6577450" y="3362722"/>
                </a:lnTo>
                <a:lnTo>
                  <a:pt x="0" y="3362722"/>
                </a:lnTo>
                <a:lnTo>
                  <a:pt x="0" y="0"/>
                </a:lnTo>
                <a:close/>
              </a:path>
            </a:pathLst>
          </a:custGeom>
          <a:blipFill>
            <a:blip r:embed="rId4"/>
            <a:stretch>
              <a:fillRect l="0" t="0" r="0" b="0"/>
            </a:stretch>
          </a:blipFill>
        </p:spPr>
      </p:sp>
      <p:sp>
        <p:nvSpPr>
          <p:cNvPr name="Freeform 6" id="6"/>
          <p:cNvSpPr/>
          <p:nvPr/>
        </p:nvSpPr>
        <p:spPr>
          <a:xfrm flipH="false" flipV="false" rot="0">
            <a:off x="-927050" y="-4697616"/>
            <a:ext cx="6172103" cy="6172103"/>
          </a:xfrm>
          <a:custGeom>
            <a:avLst/>
            <a:gdLst/>
            <a:ahLst/>
            <a:cxnLst/>
            <a:rect r="r" b="b" t="t" l="l"/>
            <a:pathLst>
              <a:path h="6172103" w="6172103">
                <a:moveTo>
                  <a:pt x="0" y="0"/>
                </a:moveTo>
                <a:lnTo>
                  <a:pt x="6172103" y="0"/>
                </a:lnTo>
                <a:lnTo>
                  <a:pt x="6172103" y="6172102"/>
                </a:lnTo>
                <a:lnTo>
                  <a:pt x="0" y="61721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6387813">
            <a:off x="263088" y="-158984"/>
            <a:ext cx="3472860" cy="3562928"/>
          </a:xfrm>
          <a:custGeom>
            <a:avLst/>
            <a:gdLst/>
            <a:ahLst/>
            <a:cxnLst/>
            <a:rect r="r" b="b" t="t" l="l"/>
            <a:pathLst>
              <a:path h="3562928" w="3472860">
                <a:moveTo>
                  <a:pt x="0" y="0"/>
                </a:moveTo>
                <a:lnTo>
                  <a:pt x="3472859" y="0"/>
                </a:lnTo>
                <a:lnTo>
                  <a:pt x="3472859" y="3562927"/>
                </a:lnTo>
                <a:lnTo>
                  <a:pt x="0" y="35629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816991" y="3276283"/>
            <a:ext cx="4942018" cy="4114800"/>
          </a:xfrm>
          <a:custGeom>
            <a:avLst/>
            <a:gdLst/>
            <a:ahLst/>
            <a:cxnLst/>
            <a:rect r="r" b="b" t="t" l="l"/>
            <a:pathLst>
              <a:path h="4114800" w="4942018">
                <a:moveTo>
                  <a:pt x="0" y="0"/>
                </a:moveTo>
                <a:lnTo>
                  <a:pt x="4942018" y="0"/>
                </a:lnTo>
                <a:lnTo>
                  <a:pt x="4942018" y="4114800"/>
                </a:lnTo>
                <a:lnTo>
                  <a:pt x="0" y="4114800"/>
                </a:lnTo>
                <a:lnTo>
                  <a:pt x="0" y="0"/>
                </a:lnTo>
                <a:close/>
              </a:path>
            </a:pathLst>
          </a:custGeom>
          <a:blipFill>
            <a:blip r:embed="rId9">
              <a:alphaModFix amt="47000"/>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2023967">
            <a:off x="144491" y="7465717"/>
            <a:ext cx="4029021" cy="3223217"/>
          </a:xfrm>
          <a:custGeom>
            <a:avLst/>
            <a:gdLst/>
            <a:ahLst/>
            <a:cxnLst/>
            <a:rect r="r" b="b" t="t" l="l"/>
            <a:pathLst>
              <a:path h="3223217" w="4029021">
                <a:moveTo>
                  <a:pt x="0" y="0"/>
                </a:moveTo>
                <a:lnTo>
                  <a:pt x="4029021" y="0"/>
                </a:lnTo>
                <a:lnTo>
                  <a:pt x="4029021" y="3223217"/>
                </a:lnTo>
                <a:lnTo>
                  <a:pt x="0" y="322321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12187582" y="7310751"/>
            <a:ext cx="5937616" cy="5952497"/>
          </a:xfrm>
          <a:custGeom>
            <a:avLst/>
            <a:gdLst/>
            <a:ahLst/>
            <a:cxnLst/>
            <a:rect r="r" b="b" t="t" l="l"/>
            <a:pathLst>
              <a:path h="5952497" w="5937616">
                <a:moveTo>
                  <a:pt x="0" y="0"/>
                </a:moveTo>
                <a:lnTo>
                  <a:pt x="5937616" y="0"/>
                </a:lnTo>
                <a:lnTo>
                  <a:pt x="5937616" y="5952498"/>
                </a:lnTo>
                <a:lnTo>
                  <a:pt x="0" y="5952498"/>
                </a:lnTo>
                <a:lnTo>
                  <a:pt x="0" y="0"/>
                </a:lnTo>
                <a:close/>
              </a:path>
            </a:pathLst>
          </a:custGeom>
          <a:blipFill>
            <a:blip r:embed="rId13"/>
            <a:stretch>
              <a:fillRect l="0" t="0" r="0" b="0"/>
            </a:stretch>
          </a:blipFill>
        </p:spPr>
      </p:sp>
      <p:sp>
        <p:nvSpPr>
          <p:cNvPr name="Freeform 11" id="11"/>
          <p:cNvSpPr/>
          <p:nvPr/>
        </p:nvSpPr>
        <p:spPr>
          <a:xfrm flipH="false" flipV="false" rot="2700000">
            <a:off x="14548011" y="-352752"/>
            <a:ext cx="4542238" cy="2370222"/>
          </a:xfrm>
          <a:custGeom>
            <a:avLst/>
            <a:gdLst/>
            <a:ahLst/>
            <a:cxnLst/>
            <a:rect r="r" b="b" t="t" l="l"/>
            <a:pathLst>
              <a:path h="2370222" w="4542238">
                <a:moveTo>
                  <a:pt x="0" y="0"/>
                </a:moveTo>
                <a:lnTo>
                  <a:pt x="4542238" y="0"/>
                </a:lnTo>
                <a:lnTo>
                  <a:pt x="4542238" y="2370222"/>
                </a:lnTo>
                <a:lnTo>
                  <a:pt x="0" y="237022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2" id="12"/>
          <p:cNvSpPr txBox="true"/>
          <p:nvPr/>
        </p:nvSpPr>
        <p:spPr>
          <a:xfrm rot="0">
            <a:off x="3546235" y="4978200"/>
            <a:ext cx="11195529" cy="1807721"/>
          </a:xfrm>
          <a:prstGeom prst="rect">
            <a:avLst/>
          </a:prstGeom>
        </p:spPr>
        <p:txBody>
          <a:bodyPr anchor="t" rtlCol="false" tIns="0" lIns="0" bIns="0" rIns="0">
            <a:spAutoFit/>
          </a:bodyPr>
          <a:lstStyle/>
          <a:p>
            <a:pPr algn="l" marL="0" indent="0" lvl="0">
              <a:lnSpc>
                <a:spcPts val="2848"/>
              </a:lnSpc>
            </a:pPr>
            <a:r>
              <a:rPr lang="en-US" sz="2034" spc="22">
                <a:solidFill>
                  <a:srgbClr val="000000"/>
                </a:solidFill>
                <a:latin typeface="Codec Pro"/>
                <a:ea typeface="Codec Pro"/>
                <a:cs typeface="Codec Pro"/>
                <a:sym typeface="Codec Pro"/>
              </a:rPr>
              <a:t>Vai trò và tầm quan trọng</a:t>
            </a:r>
          </a:p>
          <a:p>
            <a:pPr algn="l" marL="0" indent="0" lvl="0">
              <a:lnSpc>
                <a:spcPts val="2848"/>
              </a:lnSpc>
            </a:pPr>
            <a:r>
              <a:rPr lang="en-US" sz="2034" spc="22">
                <a:solidFill>
                  <a:srgbClr val="000000"/>
                </a:solidFill>
                <a:latin typeface="Codec Pro"/>
                <a:ea typeface="Codec Pro"/>
                <a:cs typeface="Codec Pro"/>
                <a:sym typeface="Codec Pro"/>
              </a:rPr>
              <a:t>Vật liệu cách điện đóng vai trò bảo vệ con người khỏi nguy cơ điện giật, ngăn ngừa chập mạch và hỏa hoạn do rò rỉ điện. Chúng được ứng dụng rộng rãi trong dây cáp điện, thiết bị điện gia dụng, bảng mạch điện tử và các công trình điện công nghiệp, đảm bảo an toàn và hiệu quả vận hành của hệ thống điện.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4ED"/>
        </a:solidFill>
      </p:bgPr>
    </p:bg>
    <p:spTree>
      <p:nvGrpSpPr>
        <p:cNvPr id="1" name=""/>
        <p:cNvGrpSpPr/>
        <p:nvPr/>
      </p:nvGrpSpPr>
      <p:grpSpPr>
        <a:xfrm>
          <a:off x="0" y="0"/>
          <a:ext cx="0" cy="0"/>
          <a:chOff x="0" y="0"/>
          <a:chExt cx="0" cy="0"/>
        </a:xfrm>
      </p:grpSpPr>
      <p:sp>
        <p:nvSpPr>
          <p:cNvPr name="Freeform 2" id="2"/>
          <p:cNvSpPr/>
          <p:nvPr/>
        </p:nvSpPr>
        <p:spPr>
          <a:xfrm flipH="false" flipV="false" rot="0">
            <a:off x="9698324" y="889492"/>
            <a:ext cx="9089890" cy="7200914"/>
          </a:xfrm>
          <a:custGeom>
            <a:avLst/>
            <a:gdLst/>
            <a:ahLst/>
            <a:cxnLst/>
            <a:rect r="r" b="b" t="t" l="l"/>
            <a:pathLst>
              <a:path h="7200914" w="9089890">
                <a:moveTo>
                  <a:pt x="0" y="0"/>
                </a:moveTo>
                <a:lnTo>
                  <a:pt x="9089890" y="0"/>
                </a:lnTo>
                <a:lnTo>
                  <a:pt x="9089890" y="7200915"/>
                </a:lnTo>
                <a:lnTo>
                  <a:pt x="0" y="7200915"/>
                </a:lnTo>
                <a:lnTo>
                  <a:pt x="0" y="0"/>
                </a:lnTo>
                <a:close/>
              </a:path>
            </a:pathLst>
          </a:custGeom>
          <a:blipFill>
            <a:blip r:embed="rId2"/>
            <a:stretch>
              <a:fillRect l="-2433" t="0" r="-2433" b="-25537"/>
            </a:stretch>
          </a:blipFill>
        </p:spPr>
      </p:sp>
      <p:sp>
        <p:nvSpPr>
          <p:cNvPr name="Freeform 3" id="3"/>
          <p:cNvSpPr/>
          <p:nvPr/>
        </p:nvSpPr>
        <p:spPr>
          <a:xfrm flipH="false" flipV="false" rot="0">
            <a:off x="1826870" y="733641"/>
            <a:ext cx="6764489" cy="6764489"/>
          </a:xfrm>
          <a:custGeom>
            <a:avLst/>
            <a:gdLst/>
            <a:ahLst/>
            <a:cxnLst/>
            <a:rect r="r" b="b" t="t" l="l"/>
            <a:pathLst>
              <a:path h="6764489" w="6764489">
                <a:moveTo>
                  <a:pt x="0" y="0"/>
                </a:moveTo>
                <a:lnTo>
                  <a:pt x="6764489" y="0"/>
                </a:lnTo>
                <a:lnTo>
                  <a:pt x="6764489" y="6764489"/>
                </a:lnTo>
                <a:lnTo>
                  <a:pt x="0" y="6764489"/>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4ED"/>
        </a:solidFill>
      </p:bgPr>
    </p:bg>
    <p:spTree>
      <p:nvGrpSpPr>
        <p:cNvPr id="1" name=""/>
        <p:cNvGrpSpPr/>
        <p:nvPr/>
      </p:nvGrpSpPr>
      <p:grpSpPr>
        <a:xfrm>
          <a:off x="0" y="0"/>
          <a:ext cx="0" cy="0"/>
          <a:chOff x="0" y="0"/>
          <a:chExt cx="0" cy="0"/>
        </a:xfrm>
      </p:grpSpPr>
      <p:sp>
        <p:nvSpPr>
          <p:cNvPr name="Freeform 2" id="2"/>
          <p:cNvSpPr/>
          <p:nvPr/>
        </p:nvSpPr>
        <p:spPr>
          <a:xfrm flipH="false" flipV="false" rot="0">
            <a:off x="12115897" y="-4697616"/>
            <a:ext cx="6172103" cy="6172103"/>
          </a:xfrm>
          <a:custGeom>
            <a:avLst/>
            <a:gdLst/>
            <a:ahLst/>
            <a:cxnLst/>
            <a:rect r="r" b="b" t="t" l="l"/>
            <a:pathLst>
              <a:path h="6172103" w="6172103">
                <a:moveTo>
                  <a:pt x="0" y="0"/>
                </a:moveTo>
                <a:lnTo>
                  <a:pt x="6172103" y="0"/>
                </a:lnTo>
                <a:lnTo>
                  <a:pt x="6172103" y="6172102"/>
                </a:lnTo>
                <a:lnTo>
                  <a:pt x="0" y="61721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871030" y="1283409"/>
            <a:ext cx="6545941" cy="787474"/>
          </a:xfrm>
          <a:prstGeom prst="rect">
            <a:avLst/>
          </a:prstGeom>
        </p:spPr>
        <p:txBody>
          <a:bodyPr anchor="t" rtlCol="false" tIns="0" lIns="0" bIns="0" rIns="0">
            <a:spAutoFit/>
          </a:bodyPr>
          <a:lstStyle/>
          <a:p>
            <a:pPr algn="ctr" marL="0" indent="0" lvl="0">
              <a:lnSpc>
                <a:spcPts val="5906"/>
              </a:lnSpc>
            </a:pPr>
            <a:r>
              <a:rPr lang="en-US" sz="6089">
                <a:solidFill>
                  <a:srgbClr val="005162"/>
                </a:solidFill>
                <a:latin typeface="Bree Serif"/>
                <a:ea typeface="Bree Serif"/>
                <a:cs typeface="Bree Serif"/>
                <a:sym typeface="Bree Serif"/>
              </a:rPr>
              <a:t>Phân Loại Vật Liệu</a:t>
            </a:r>
          </a:p>
        </p:txBody>
      </p:sp>
      <p:sp>
        <p:nvSpPr>
          <p:cNvPr name="Freeform 4" id="4"/>
          <p:cNvSpPr/>
          <p:nvPr/>
        </p:nvSpPr>
        <p:spPr>
          <a:xfrm flipH="false" flipV="false" rot="-1967977">
            <a:off x="13432399" y="7834301"/>
            <a:ext cx="4128147" cy="4684237"/>
          </a:xfrm>
          <a:custGeom>
            <a:avLst/>
            <a:gdLst/>
            <a:ahLst/>
            <a:cxnLst/>
            <a:rect r="r" b="b" t="t" l="l"/>
            <a:pathLst>
              <a:path h="4684237" w="4128147">
                <a:moveTo>
                  <a:pt x="0" y="0"/>
                </a:moveTo>
                <a:lnTo>
                  <a:pt x="4128147" y="0"/>
                </a:lnTo>
                <a:lnTo>
                  <a:pt x="4128147" y="4684237"/>
                </a:lnTo>
                <a:lnTo>
                  <a:pt x="0" y="46842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029027" y="8409394"/>
            <a:ext cx="6160775" cy="2889963"/>
          </a:xfrm>
          <a:custGeom>
            <a:avLst/>
            <a:gdLst/>
            <a:ahLst/>
            <a:cxnLst/>
            <a:rect r="r" b="b" t="t" l="l"/>
            <a:pathLst>
              <a:path h="2889963" w="6160775">
                <a:moveTo>
                  <a:pt x="0" y="0"/>
                </a:moveTo>
                <a:lnTo>
                  <a:pt x="6160775" y="0"/>
                </a:lnTo>
                <a:lnTo>
                  <a:pt x="6160775" y="2889963"/>
                </a:lnTo>
                <a:lnTo>
                  <a:pt x="0" y="28899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27050" y="-4697616"/>
            <a:ext cx="6172103" cy="6172103"/>
          </a:xfrm>
          <a:custGeom>
            <a:avLst/>
            <a:gdLst/>
            <a:ahLst/>
            <a:cxnLst/>
            <a:rect r="r" b="b" t="t" l="l"/>
            <a:pathLst>
              <a:path h="6172103" w="6172103">
                <a:moveTo>
                  <a:pt x="0" y="0"/>
                </a:moveTo>
                <a:lnTo>
                  <a:pt x="6172103" y="0"/>
                </a:lnTo>
                <a:lnTo>
                  <a:pt x="6172103" y="6172102"/>
                </a:lnTo>
                <a:lnTo>
                  <a:pt x="0" y="61721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6387813">
            <a:off x="15092385" y="-686876"/>
            <a:ext cx="3362177" cy="3336961"/>
          </a:xfrm>
          <a:custGeom>
            <a:avLst/>
            <a:gdLst/>
            <a:ahLst/>
            <a:cxnLst/>
            <a:rect r="r" b="b" t="t" l="l"/>
            <a:pathLst>
              <a:path h="3336961" w="3362177">
                <a:moveTo>
                  <a:pt x="0" y="0"/>
                </a:moveTo>
                <a:lnTo>
                  <a:pt x="3362177" y="0"/>
                </a:lnTo>
                <a:lnTo>
                  <a:pt x="3362177" y="3336961"/>
                </a:lnTo>
                <a:lnTo>
                  <a:pt x="0" y="3336961"/>
                </a:lnTo>
                <a:lnTo>
                  <a:pt x="0" y="0"/>
                </a:lnTo>
                <a:close/>
              </a:path>
            </a:pathLst>
          </a:custGeom>
          <a:blipFill>
            <a:blip r:embed="rId8"/>
            <a:stretch>
              <a:fillRect l="0" t="0" r="0" b="0"/>
            </a:stretch>
          </a:blipFill>
        </p:spPr>
      </p:sp>
      <p:sp>
        <p:nvSpPr>
          <p:cNvPr name="Freeform 8" id="8"/>
          <p:cNvSpPr/>
          <p:nvPr/>
        </p:nvSpPr>
        <p:spPr>
          <a:xfrm flipH="false" flipV="false" rot="0">
            <a:off x="16696185" y="1410921"/>
            <a:ext cx="8161291" cy="7049315"/>
          </a:xfrm>
          <a:custGeom>
            <a:avLst/>
            <a:gdLst/>
            <a:ahLst/>
            <a:cxnLst/>
            <a:rect r="r" b="b" t="t" l="l"/>
            <a:pathLst>
              <a:path h="7049315" w="8161291">
                <a:moveTo>
                  <a:pt x="0" y="0"/>
                </a:moveTo>
                <a:lnTo>
                  <a:pt x="8161291" y="0"/>
                </a:lnTo>
                <a:lnTo>
                  <a:pt x="8161291" y="7049315"/>
                </a:lnTo>
                <a:lnTo>
                  <a:pt x="0" y="7049315"/>
                </a:lnTo>
                <a:lnTo>
                  <a:pt x="0" y="0"/>
                </a:lnTo>
                <a:close/>
              </a:path>
            </a:pathLst>
          </a:custGeom>
          <a:blipFill>
            <a:blip r:embed="rId9">
              <a:alphaModFix amt="47000"/>
            </a:blip>
            <a:stretch>
              <a:fillRect l="0" t="0" r="0" b="0"/>
            </a:stretch>
          </a:blipFill>
        </p:spPr>
      </p:sp>
      <p:sp>
        <p:nvSpPr>
          <p:cNvPr name="Freeform 9" id="9"/>
          <p:cNvSpPr/>
          <p:nvPr/>
        </p:nvSpPr>
        <p:spPr>
          <a:xfrm flipH="false" flipV="false" rot="-1364165">
            <a:off x="14608160" y="6581149"/>
            <a:ext cx="5375097" cy="4541957"/>
          </a:xfrm>
          <a:custGeom>
            <a:avLst/>
            <a:gdLst/>
            <a:ahLst/>
            <a:cxnLst/>
            <a:rect r="r" b="b" t="t" l="l"/>
            <a:pathLst>
              <a:path h="4541957" w="5375097">
                <a:moveTo>
                  <a:pt x="0" y="0"/>
                </a:moveTo>
                <a:lnTo>
                  <a:pt x="5375097" y="0"/>
                </a:lnTo>
                <a:lnTo>
                  <a:pt x="5375097" y="4541957"/>
                </a:lnTo>
                <a:lnTo>
                  <a:pt x="0" y="4541957"/>
                </a:lnTo>
                <a:lnTo>
                  <a:pt x="0" y="0"/>
                </a:lnTo>
                <a:close/>
              </a:path>
            </a:pathLst>
          </a:custGeom>
          <a:blipFill>
            <a:blip r:embed="rId10"/>
            <a:stretch>
              <a:fillRect l="0" t="0" r="0" b="0"/>
            </a:stretch>
          </a:blipFill>
        </p:spPr>
      </p:sp>
      <p:sp>
        <p:nvSpPr>
          <p:cNvPr name="Freeform 10" id="10"/>
          <p:cNvSpPr/>
          <p:nvPr/>
        </p:nvSpPr>
        <p:spPr>
          <a:xfrm flipH="false" flipV="false" rot="0">
            <a:off x="-1778295" y="7208964"/>
            <a:ext cx="6616879" cy="6641786"/>
          </a:xfrm>
          <a:custGeom>
            <a:avLst/>
            <a:gdLst/>
            <a:ahLst/>
            <a:cxnLst/>
            <a:rect r="r" b="b" t="t" l="l"/>
            <a:pathLst>
              <a:path h="6641786" w="6616879">
                <a:moveTo>
                  <a:pt x="0" y="0"/>
                </a:moveTo>
                <a:lnTo>
                  <a:pt x="6616879" y="0"/>
                </a:lnTo>
                <a:lnTo>
                  <a:pt x="6616879" y="6641786"/>
                </a:lnTo>
                <a:lnTo>
                  <a:pt x="0" y="6641786"/>
                </a:lnTo>
                <a:lnTo>
                  <a:pt x="0" y="0"/>
                </a:lnTo>
                <a:close/>
              </a:path>
            </a:pathLst>
          </a:custGeom>
          <a:blipFill>
            <a:blip r:embed="rId11"/>
            <a:stretch>
              <a:fillRect l="0" t="0" r="0" b="0"/>
            </a:stretch>
          </a:blipFill>
        </p:spPr>
      </p:sp>
      <p:sp>
        <p:nvSpPr>
          <p:cNvPr name="Freeform 11" id="11"/>
          <p:cNvSpPr/>
          <p:nvPr/>
        </p:nvSpPr>
        <p:spPr>
          <a:xfrm flipH="false" flipV="false" rot="6576118">
            <a:off x="-2241266" y="914056"/>
            <a:ext cx="6753492" cy="3072839"/>
          </a:xfrm>
          <a:custGeom>
            <a:avLst/>
            <a:gdLst/>
            <a:ahLst/>
            <a:cxnLst/>
            <a:rect r="r" b="b" t="t" l="l"/>
            <a:pathLst>
              <a:path h="3072839" w="6753492">
                <a:moveTo>
                  <a:pt x="0" y="0"/>
                </a:moveTo>
                <a:lnTo>
                  <a:pt x="6753492" y="0"/>
                </a:lnTo>
                <a:lnTo>
                  <a:pt x="6753492" y="3072839"/>
                </a:lnTo>
                <a:lnTo>
                  <a:pt x="0" y="3072839"/>
                </a:lnTo>
                <a:lnTo>
                  <a:pt x="0" y="0"/>
                </a:lnTo>
                <a:close/>
              </a:path>
            </a:pathLst>
          </a:custGeom>
          <a:blipFill>
            <a:blip r:embed="rId12"/>
            <a:stretch>
              <a:fillRect l="0" t="0" r="0" b="0"/>
            </a:stretch>
          </a:blipFill>
        </p:spPr>
      </p:sp>
      <p:sp>
        <p:nvSpPr>
          <p:cNvPr name="TextBox 12" id="12"/>
          <p:cNvSpPr txBox="true"/>
          <p:nvPr/>
        </p:nvSpPr>
        <p:spPr>
          <a:xfrm rot="0">
            <a:off x="3546235" y="3229385"/>
            <a:ext cx="11195529" cy="1570916"/>
          </a:xfrm>
          <a:prstGeom prst="rect">
            <a:avLst/>
          </a:prstGeom>
        </p:spPr>
        <p:txBody>
          <a:bodyPr anchor="t" rtlCol="false" tIns="0" lIns="0" bIns="0" rIns="0">
            <a:spAutoFit/>
          </a:bodyPr>
          <a:lstStyle/>
          <a:p>
            <a:pPr algn="l" marL="0" indent="0" lvl="0">
              <a:lnSpc>
                <a:spcPts val="3052"/>
              </a:lnSpc>
            </a:pPr>
            <a:r>
              <a:rPr lang="en-US" sz="2180" spc="23">
                <a:solidFill>
                  <a:srgbClr val="000000"/>
                </a:solidFill>
                <a:latin typeface="Codec Pro"/>
                <a:ea typeface="Codec Pro"/>
                <a:cs typeface="Codec Pro"/>
                <a:sym typeface="Codec Pro"/>
              </a:rPr>
              <a:t>Vật liệu cách điện rắn là nhóm phổ biến nhất, bao gồm: Nhựa (PVC, PE, XLPE) – dùng bọc dây điện, cáp; Cao su – linh hoạt, chịu nhiệt tốt; Sứ – dùng làm sứ cách điện trên đường dây cao thế; Thủy tinh – chịu nhiệt và hóa chất, dùng trong thiết bị điện cao áp.</a:t>
            </a:r>
          </a:p>
        </p:txBody>
      </p:sp>
      <p:sp>
        <p:nvSpPr>
          <p:cNvPr name="TextBox 13" id="13"/>
          <p:cNvSpPr txBox="true"/>
          <p:nvPr/>
        </p:nvSpPr>
        <p:spPr>
          <a:xfrm rot="0">
            <a:off x="3546235" y="6074761"/>
            <a:ext cx="11195529" cy="1570916"/>
          </a:xfrm>
          <a:prstGeom prst="rect">
            <a:avLst/>
          </a:prstGeom>
        </p:spPr>
        <p:txBody>
          <a:bodyPr anchor="t" rtlCol="false" tIns="0" lIns="0" bIns="0" rIns="0">
            <a:spAutoFit/>
          </a:bodyPr>
          <a:lstStyle/>
          <a:p>
            <a:pPr algn="l" marL="0" indent="0" lvl="0">
              <a:lnSpc>
                <a:spcPts val="3052"/>
              </a:lnSpc>
            </a:pPr>
            <a:r>
              <a:rPr lang="en-US" sz="2180" spc="23">
                <a:solidFill>
                  <a:srgbClr val="000000"/>
                </a:solidFill>
                <a:latin typeface="Codec Pro"/>
                <a:ea typeface="Codec Pro"/>
                <a:cs typeface="Codec Pro"/>
                <a:sym typeface="Codec Pro"/>
              </a:rPr>
              <a:t>Vật liệu cách điện lỏng: Dầu cách điện (dầu khoáng, dầu silicon) dùng trong máy biến áp và tụ điện, có khả năng tản nhiệt tốt và chịu điện áp cao. Vật liệu cách điện khí: Không khí là chất cách điện tự nhiên phổ biến; SF6 (lưu huỳnh hexafluoride) dùng trong thiết bị đóng cắt cao áp, có độ bền điện môi cao gấp 3 lần không khí.</a:t>
            </a:r>
          </a:p>
        </p:txBody>
      </p:sp>
      <p:sp>
        <p:nvSpPr>
          <p:cNvPr name="TextBox 14" id="14"/>
          <p:cNvSpPr txBox="true"/>
          <p:nvPr/>
        </p:nvSpPr>
        <p:spPr>
          <a:xfrm rot="0">
            <a:off x="3589440" y="5520309"/>
            <a:ext cx="4563179" cy="346920"/>
          </a:xfrm>
          <a:prstGeom prst="rect">
            <a:avLst/>
          </a:prstGeom>
        </p:spPr>
        <p:txBody>
          <a:bodyPr anchor="t" rtlCol="false" tIns="0" lIns="0" bIns="0" rIns="0">
            <a:spAutoFit/>
          </a:bodyPr>
          <a:lstStyle/>
          <a:p>
            <a:pPr algn="l" marL="0" indent="0" lvl="0">
              <a:lnSpc>
                <a:spcPts val="2518"/>
              </a:lnSpc>
            </a:pPr>
            <a:r>
              <a:rPr lang="en-US" sz="2596">
                <a:solidFill>
                  <a:srgbClr val="005162"/>
                </a:solidFill>
                <a:latin typeface="Bree Serif"/>
                <a:ea typeface="Bree Serif"/>
                <a:cs typeface="Bree Serif"/>
                <a:sym typeface="Bree Serif"/>
              </a:rPr>
              <a:t>Vật Liệu Cách Điện Lỏng &amp; Khí</a:t>
            </a:r>
          </a:p>
        </p:txBody>
      </p:sp>
      <p:sp>
        <p:nvSpPr>
          <p:cNvPr name="TextBox 15" id="15"/>
          <p:cNvSpPr txBox="true"/>
          <p:nvPr/>
        </p:nvSpPr>
        <p:spPr>
          <a:xfrm rot="0">
            <a:off x="3546235" y="2688527"/>
            <a:ext cx="4563179" cy="346920"/>
          </a:xfrm>
          <a:prstGeom prst="rect">
            <a:avLst/>
          </a:prstGeom>
        </p:spPr>
        <p:txBody>
          <a:bodyPr anchor="t" rtlCol="false" tIns="0" lIns="0" bIns="0" rIns="0">
            <a:spAutoFit/>
          </a:bodyPr>
          <a:lstStyle/>
          <a:p>
            <a:pPr algn="l" marL="0" indent="0" lvl="0">
              <a:lnSpc>
                <a:spcPts val="2518"/>
              </a:lnSpc>
            </a:pPr>
            <a:r>
              <a:rPr lang="en-US" sz="2596">
                <a:solidFill>
                  <a:srgbClr val="005162"/>
                </a:solidFill>
                <a:latin typeface="Bree Serif"/>
                <a:ea typeface="Bree Serif"/>
                <a:cs typeface="Bree Serif"/>
                <a:sym typeface="Bree Serif"/>
              </a:rPr>
              <a:t>Vật Liệu Cách Điện Rắn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4ED"/>
        </a:solidFill>
      </p:bgPr>
    </p:bg>
    <p:spTree>
      <p:nvGrpSpPr>
        <p:cNvPr id="1" name=""/>
        <p:cNvGrpSpPr/>
        <p:nvPr/>
      </p:nvGrpSpPr>
      <p:grpSpPr>
        <a:xfrm>
          <a:off x="0" y="0"/>
          <a:ext cx="0" cy="0"/>
          <a:chOff x="0" y="0"/>
          <a:chExt cx="0" cy="0"/>
        </a:xfrm>
      </p:grpSpPr>
      <p:sp>
        <p:nvSpPr>
          <p:cNvPr name="TextBox 2" id="2"/>
          <p:cNvSpPr txBox="true"/>
          <p:nvPr/>
        </p:nvSpPr>
        <p:spPr>
          <a:xfrm rot="0">
            <a:off x="3885241" y="1185224"/>
            <a:ext cx="10517519" cy="885659"/>
          </a:xfrm>
          <a:prstGeom prst="rect">
            <a:avLst/>
          </a:prstGeom>
        </p:spPr>
        <p:txBody>
          <a:bodyPr anchor="t" rtlCol="false" tIns="0" lIns="0" bIns="0" rIns="0">
            <a:spAutoFit/>
          </a:bodyPr>
          <a:lstStyle/>
          <a:p>
            <a:pPr algn="ctr" marL="0" indent="0" lvl="0">
              <a:lnSpc>
                <a:spcPts val="6636"/>
              </a:lnSpc>
            </a:pPr>
            <a:r>
              <a:rPr lang="en-US" sz="6842">
                <a:solidFill>
                  <a:srgbClr val="005162"/>
                </a:solidFill>
                <a:latin typeface="Bree Serif"/>
                <a:ea typeface="Bree Serif"/>
                <a:cs typeface="Bree Serif"/>
                <a:sym typeface="Bree Serif"/>
              </a:rPr>
              <a:t>Vật Liệu Cách Điện</a:t>
            </a:r>
          </a:p>
        </p:txBody>
      </p:sp>
      <p:sp>
        <p:nvSpPr>
          <p:cNvPr name="Freeform 3" id="3"/>
          <p:cNvSpPr/>
          <p:nvPr/>
        </p:nvSpPr>
        <p:spPr>
          <a:xfrm flipH="false" flipV="false" rot="-1650562">
            <a:off x="4796803" y="8137895"/>
            <a:ext cx="6327675" cy="6074568"/>
          </a:xfrm>
          <a:custGeom>
            <a:avLst/>
            <a:gdLst/>
            <a:ahLst/>
            <a:cxnLst/>
            <a:rect r="r" b="b" t="t" l="l"/>
            <a:pathLst>
              <a:path h="6074568" w="6327675">
                <a:moveTo>
                  <a:pt x="0" y="0"/>
                </a:moveTo>
                <a:lnTo>
                  <a:pt x="6327675" y="0"/>
                </a:lnTo>
                <a:lnTo>
                  <a:pt x="6327675" y="6074567"/>
                </a:lnTo>
                <a:lnTo>
                  <a:pt x="0" y="6074567"/>
                </a:lnTo>
                <a:lnTo>
                  <a:pt x="0" y="0"/>
                </a:lnTo>
                <a:close/>
              </a:path>
            </a:pathLst>
          </a:custGeom>
          <a:blipFill>
            <a:blip r:embed="rId2"/>
            <a:stretch>
              <a:fillRect l="0" t="0" r="0" b="0"/>
            </a:stretch>
          </a:blipFill>
        </p:spPr>
      </p:sp>
      <p:sp>
        <p:nvSpPr>
          <p:cNvPr name="Freeform 4" id="4"/>
          <p:cNvSpPr/>
          <p:nvPr/>
        </p:nvSpPr>
        <p:spPr>
          <a:xfrm flipH="false" flipV="false" rot="0">
            <a:off x="-3718153" y="7181765"/>
            <a:ext cx="8510585" cy="3992238"/>
          </a:xfrm>
          <a:custGeom>
            <a:avLst/>
            <a:gdLst/>
            <a:ahLst/>
            <a:cxnLst/>
            <a:rect r="r" b="b" t="t" l="l"/>
            <a:pathLst>
              <a:path h="3992238" w="8510585">
                <a:moveTo>
                  <a:pt x="0" y="0"/>
                </a:moveTo>
                <a:lnTo>
                  <a:pt x="8510585" y="0"/>
                </a:lnTo>
                <a:lnTo>
                  <a:pt x="8510585" y="3992238"/>
                </a:lnTo>
                <a:lnTo>
                  <a:pt x="0" y="39922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265605" y="-4169685"/>
            <a:ext cx="6172103" cy="6172103"/>
          </a:xfrm>
          <a:custGeom>
            <a:avLst/>
            <a:gdLst/>
            <a:ahLst/>
            <a:cxnLst/>
            <a:rect r="r" b="b" t="t" l="l"/>
            <a:pathLst>
              <a:path h="6172103" w="6172103">
                <a:moveTo>
                  <a:pt x="0" y="0"/>
                </a:moveTo>
                <a:lnTo>
                  <a:pt x="6172103" y="0"/>
                </a:lnTo>
                <a:lnTo>
                  <a:pt x="6172103" y="6172103"/>
                </a:lnTo>
                <a:lnTo>
                  <a:pt x="0" y="61721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6387813">
            <a:off x="111993" y="-212840"/>
            <a:ext cx="3741340" cy="3357853"/>
          </a:xfrm>
          <a:custGeom>
            <a:avLst/>
            <a:gdLst/>
            <a:ahLst/>
            <a:cxnLst/>
            <a:rect r="r" b="b" t="t" l="l"/>
            <a:pathLst>
              <a:path h="3357853" w="3741340">
                <a:moveTo>
                  <a:pt x="0" y="0"/>
                </a:moveTo>
                <a:lnTo>
                  <a:pt x="3741340" y="0"/>
                </a:lnTo>
                <a:lnTo>
                  <a:pt x="3741340" y="3357853"/>
                </a:lnTo>
                <a:lnTo>
                  <a:pt x="0" y="3357853"/>
                </a:lnTo>
                <a:lnTo>
                  <a:pt x="0" y="0"/>
                </a:lnTo>
                <a:close/>
              </a:path>
            </a:pathLst>
          </a:custGeom>
          <a:blipFill>
            <a:blip r:embed="rId7"/>
            <a:stretch>
              <a:fillRect l="0" t="0" r="0" b="0"/>
            </a:stretch>
          </a:blipFill>
        </p:spPr>
      </p:sp>
      <p:sp>
        <p:nvSpPr>
          <p:cNvPr name="Freeform 7" id="7"/>
          <p:cNvSpPr/>
          <p:nvPr/>
        </p:nvSpPr>
        <p:spPr>
          <a:xfrm flipH="false" flipV="false" rot="0">
            <a:off x="15783323" y="3040183"/>
            <a:ext cx="5462163" cy="4458491"/>
          </a:xfrm>
          <a:custGeom>
            <a:avLst/>
            <a:gdLst/>
            <a:ahLst/>
            <a:cxnLst/>
            <a:rect r="r" b="b" t="t" l="l"/>
            <a:pathLst>
              <a:path h="4458491" w="5462163">
                <a:moveTo>
                  <a:pt x="0" y="0"/>
                </a:moveTo>
                <a:lnTo>
                  <a:pt x="5462163" y="0"/>
                </a:lnTo>
                <a:lnTo>
                  <a:pt x="5462163" y="4458491"/>
                </a:lnTo>
                <a:lnTo>
                  <a:pt x="0" y="4458491"/>
                </a:lnTo>
                <a:lnTo>
                  <a:pt x="0" y="0"/>
                </a:lnTo>
                <a:close/>
              </a:path>
            </a:pathLst>
          </a:custGeom>
          <a:blipFill>
            <a:blip r:embed="rId8">
              <a:alphaModFix amt="47000"/>
            </a:blip>
            <a:stretch>
              <a:fillRect l="0" t="0" r="0" b="0"/>
            </a:stretch>
          </a:blipFill>
        </p:spPr>
      </p:sp>
      <p:sp>
        <p:nvSpPr>
          <p:cNvPr name="Freeform 8" id="8"/>
          <p:cNvSpPr/>
          <p:nvPr/>
        </p:nvSpPr>
        <p:spPr>
          <a:xfrm flipH="false" flipV="false" rot="-1046751">
            <a:off x="6112700" y="7131930"/>
            <a:ext cx="5234414" cy="5201699"/>
          </a:xfrm>
          <a:custGeom>
            <a:avLst/>
            <a:gdLst/>
            <a:ahLst/>
            <a:cxnLst/>
            <a:rect r="r" b="b" t="t" l="l"/>
            <a:pathLst>
              <a:path h="5201699" w="5234414">
                <a:moveTo>
                  <a:pt x="0" y="0"/>
                </a:moveTo>
                <a:lnTo>
                  <a:pt x="5234414" y="0"/>
                </a:lnTo>
                <a:lnTo>
                  <a:pt x="5234414" y="5201699"/>
                </a:lnTo>
                <a:lnTo>
                  <a:pt x="0" y="5201699"/>
                </a:lnTo>
                <a:lnTo>
                  <a:pt x="0" y="0"/>
                </a:lnTo>
                <a:close/>
              </a:path>
            </a:pathLst>
          </a:custGeom>
          <a:blipFill>
            <a:blip r:embed="rId9"/>
            <a:stretch>
              <a:fillRect l="0" t="0" r="0" b="0"/>
            </a:stretch>
          </a:blipFill>
        </p:spPr>
      </p:sp>
      <p:sp>
        <p:nvSpPr>
          <p:cNvPr name="Freeform 9" id="9"/>
          <p:cNvSpPr/>
          <p:nvPr/>
        </p:nvSpPr>
        <p:spPr>
          <a:xfrm flipH="false" flipV="false" rot="2700000">
            <a:off x="14548011" y="-352752"/>
            <a:ext cx="4542238" cy="2370222"/>
          </a:xfrm>
          <a:custGeom>
            <a:avLst/>
            <a:gdLst/>
            <a:ahLst/>
            <a:cxnLst/>
            <a:rect r="r" b="b" t="t" l="l"/>
            <a:pathLst>
              <a:path h="2370222" w="4542238">
                <a:moveTo>
                  <a:pt x="0" y="0"/>
                </a:moveTo>
                <a:lnTo>
                  <a:pt x="4542238" y="0"/>
                </a:lnTo>
                <a:lnTo>
                  <a:pt x="4542238" y="2370222"/>
                </a:lnTo>
                <a:lnTo>
                  <a:pt x="0" y="23702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3363085" y="3038047"/>
            <a:ext cx="4757075" cy="4496021"/>
          </a:xfrm>
          <a:prstGeom prst="rect">
            <a:avLst/>
          </a:prstGeom>
        </p:spPr>
        <p:txBody>
          <a:bodyPr anchor="t" rtlCol="false" tIns="0" lIns="0" bIns="0" rIns="0">
            <a:spAutoFit/>
          </a:bodyPr>
          <a:lstStyle/>
          <a:p>
            <a:pPr algn="l" marL="0" indent="0" lvl="0">
              <a:lnSpc>
                <a:spcPts val="3238"/>
              </a:lnSpc>
            </a:pPr>
            <a:r>
              <a:rPr lang="en-US" sz="2313" spc="25">
                <a:solidFill>
                  <a:srgbClr val="000000"/>
                </a:solidFill>
                <a:latin typeface="Codec Pro"/>
                <a:ea typeface="Codec Pro"/>
                <a:cs typeface="Codec Pro"/>
                <a:sym typeface="Codec Pro"/>
              </a:rPr>
              <a:t>Ví dụ: Cao su tự nhiên, gỗ khô, gốm sứ, mica, thủy tinh.</a:t>
            </a:r>
          </a:p>
          <a:p>
            <a:pPr algn="l" marL="0" indent="0" lvl="0">
              <a:lnSpc>
                <a:spcPts val="3238"/>
              </a:lnSpc>
            </a:pPr>
            <a:r>
              <a:rPr lang="en-US" sz="2313" spc="25">
                <a:solidFill>
                  <a:srgbClr val="000000"/>
                </a:solidFill>
                <a:latin typeface="Codec Pro"/>
                <a:ea typeface="Codec Pro"/>
                <a:cs typeface="Codec Pro"/>
                <a:sym typeface="Codec Pro"/>
              </a:rPr>
              <a:t>Ưu điểm: Dễ khai thác, thân thiện môi trường, chi phí thấp, độ bền cao trong điều kiện thường.</a:t>
            </a:r>
          </a:p>
          <a:p>
            <a:pPr algn="l" marL="0" indent="0" lvl="0">
              <a:lnSpc>
                <a:spcPts val="3238"/>
              </a:lnSpc>
            </a:pPr>
            <a:r>
              <a:rPr lang="en-US" sz="2313" spc="25">
                <a:solidFill>
                  <a:srgbClr val="000000"/>
                </a:solidFill>
                <a:latin typeface="Codec Pro"/>
                <a:ea typeface="Codec Pro"/>
                <a:cs typeface="Codec Pro"/>
                <a:sym typeface="Codec Pro"/>
              </a:rPr>
              <a:t>Hạn chế: Khả năng cách điện không đồng đều, dễ bị ảnh hưởng bởi độ ẩm và nhiệt độ cao, khó gia công thành hình dạng phức tạp.</a:t>
            </a:r>
          </a:p>
        </p:txBody>
      </p:sp>
      <p:sp>
        <p:nvSpPr>
          <p:cNvPr name="TextBox 11" id="11"/>
          <p:cNvSpPr txBox="true"/>
          <p:nvPr/>
        </p:nvSpPr>
        <p:spPr>
          <a:xfrm rot="0">
            <a:off x="10778417" y="3240753"/>
            <a:ext cx="4757075" cy="4090609"/>
          </a:xfrm>
          <a:prstGeom prst="rect">
            <a:avLst/>
          </a:prstGeom>
        </p:spPr>
        <p:txBody>
          <a:bodyPr anchor="t" rtlCol="false" tIns="0" lIns="0" bIns="0" rIns="0">
            <a:spAutoFit/>
          </a:bodyPr>
          <a:lstStyle/>
          <a:p>
            <a:pPr algn="l" marL="0" indent="0" lvl="0">
              <a:lnSpc>
                <a:spcPts val="3238"/>
              </a:lnSpc>
            </a:pPr>
            <a:r>
              <a:rPr lang="en-US" sz="2313" spc="25">
                <a:solidFill>
                  <a:srgbClr val="000000"/>
                </a:solidFill>
                <a:latin typeface="Codec Pro"/>
                <a:ea typeface="Codec Pro"/>
                <a:cs typeface="Codec Pro"/>
                <a:sym typeface="Codec Pro"/>
              </a:rPr>
              <a:t>Ví dụ: Nhựa PVC, nhựa PE, epoxy, silicon tổng hợp, sơn cách điện.</a:t>
            </a:r>
          </a:p>
          <a:p>
            <a:pPr algn="l" marL="0" indent="0" lvl="0">
              <a:lnSpc>
                <a:spcPts val="3238"/>
              </a:lnSpc>
            </a:pPr>
            <a:r>
              <a:rPr lang="en-US" sz="2313" spc="25">
                <a:solidFill>
                  <a:srgbClr val="000000"/>
                </a:solidFill>
                <a:latin typeface="Codec Pro"/>
                <a:ea typeface="Codec Pro"/>
                <a:cs typeface="Codec Pro"/>
                <a:sym typeface="Codec Pro"/>
              </a:rPr>
              <a:t>Ưu điểm: Điện trở suất cao, chịu nhiệt tốt, dễ tạo hình, ổn định theo thời gian, phù hợp dây dẫn và thiết bị điện hiện đại.</a:t>
            </a:r>
          </a:p>
          <a:p>
            <a:pPr algn="l" marL="0" indent="0" lvl="0">
              <a:lnSpc>
                <a:spcPts val="3238"/>
              </a:lnSpc>
            </a:pPr>
            <a:r>
              <a:rPr lang="en-US" sz="2313" spc="25">
                <a:solidFill>
                  <a:srgbClr val="000000"/>
                </a:solidFill>
                <a:latin typeface="Codec Pro"/>
                <a:ea typeface="Codec Pro"/>
                <a:cs typeface="Codec Pro"/>
                <a:sym typeface="Codec Pro"/>
              </a:rPr>
              <a:t>Hạn chế: Chi phí sản xuất cao hơn, một số vật liệu khó phân hủy, cần kiểm soát chất lượng chặt chẽ.</a:t>
            </a:r>
          </a:p>
        </p:txBody>
      </p:sp>
      <p:sp>
        <p:nvSpPr>
          <p:cNvPr name="TextBox 12" id="12"/>
          <p:cNvSpPr txBox="true"/>
          <p:nvPr/>
        </p:nvSpPr>
        <p:spPr>
          <a:xfrm rot="0">
            <a:off x="3363085" y="2562495"/>
            <a:ext cx="3951758" cy="483903"/>
          </a:xfrm>
          <a:prstGeom prst="rect">
            <a:avLst/>
          </a:prstGeom>
        </p:spPr>
        <p:txBody>
          <a:bodyPr anchor="t" rtlCol="false" tIns="0" lIns="0" bIns="0" rIns="0">
            <a:spAutoFit/>
          </a:bodyPr>
          <a:lstStyle/>
          <a:p>
            <a:pPr algn="ctr" marL="0" indent="0" lvl="0">
              <a:lnSpc>
                <a:spcPts val="3630"/>
              </a:lnSpc>
            </a:pPr>
            <a:r>
              <a:rPr lang="en-US" sz="3742">
                <a:solidFill>
                  <a:srgbClr val="005162"/>
                </a:solidFill>
                <a:latin typeface="Bree Serif"/>
                <a:ea typeface="Bree Serif"/>
                <a:cs typeface="Bree Serif"/>
                <a:sym typeface="Bree Serif"/>
              </a:rPr>
              <a:t>Vật Liệu Tự Nhiên</a:t>
            </a:r>
          </a:p>
        </p:txBody>
      </p:sp>
      <p:sp>
        <p:nvSpPr>
          <p:cNvPr name="TextBox 13" id="13"/>
          <p:cNvSpPr txBox="true"/>
          <p:nvPr/>
        </p:nvSpPr>
        <p:spPr>
          <a:xfrm rot="0">
            <a:off x="10778417" y="2562495"/>
            <a:ext cx="3951758" cy="483903"/>
          </a:xfrm>
          <a:prstGeom prst="rect">
            <a:avLst/>
          </a:prstGeom>
        </p:spPr>
        <p:txBody>
          <a:bodyPr anchor="t" rtlCol="false" tIns="0" lIns="0" bIns="0" rIns="0">
            <a:spAutoFit/>
          </a:bodyPr>
          <a:lstStyle/>
          <a:p>
            <a:pPr algn="ctr" marL="0" indent="0" lvl="0">
              <a:lnSpc>
                <a:spcPts val="3630"/>
              </a:lnSpc>
            </a:pPr>
            <a:r>
              <a:rPr lang="en-US" sz="3742">
                <a:solidFill>
                  <a:srgbClr val="005162"/>
                </a:solidFill>
                <a:latin typeface="Bree Serif"/>
                <a:ea typeface="Bree Serif"/>
                <a:cs typeface="Bree Serif"/>
                <a:sym typeface="Bree Serif"/>
              </a:rPr>
              <a:t>Vật Liệu Nhân Tạo</a:t>
            </a:r>
          </a:p>
        </p:txBody>
      </p:sp>
      <p:sp>
        <p:nvSpPr>
          <p:cNvPr name="Freeform 14" id="14"/>
          <p:cNvSpPr/>
          <p:nvPr/>
        </p:nvSpPr>
        <p:spPr>
          <a:xfrm flipH="false" flipV="false" rot="0">
            <a:off x="11727516" y="6645049"/>
            <a:ext cx="8546294" cy="7659616"/>
          </a:xfrm>
          <a:custGeom>
            <a:avLst/>
            <a:gdLst/>
            <a:ahLst/>
            <a:cxnLst/>
            <a:rect r="r" b="b" t="t" l="l"/>
            <a:pathLst>
              <a:path h="7659616" w="8546294">
                <a:moveTo>
                  <a:pt x="0" y="0"/>
                </a:moveTo>
                <a:lnTo>
                  <a:pt x="8546294" y="0"/>
                </a:lnTo>
                <a:lnTo>
                  <a:pt x="8546294" y="7659616"/>
                </a:lnTo>
                <a:lnTo>
                  <a:pt x="0" y="7659616"/>
                </a:lnTo>
                <a:lnTo>
                  <a:pt x="0" y="0"/>
                </a:lnTo>
                <a:close/>
              </a:path>
            </a:pathLst>
          </a:custGeom>
          <a:blipFill>
            <a:blip r:embed="rId1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4ED"/>
        </a:solidFill>
      </p:bgPr>
    </p:bg>
    <p:spTree>
      <p:nvGrpSpPr>
        <p:cNvPr id="1" name=""/>
        <p:cNvGrpSpPr/>
        <p:nvPr/>
      </p:nvGrpSpPr>
      <p:grpSpPr>
        <a:xfrm>
          <a:off x="0" y="0"/>
          <a:ext cx="0" cy="0"/>
          <a:chOff x="0" y="0"/>
          <a:chExt cx="0" cy="0"/>
        </a:xfrm>
      </p:grpSpPr>
      <p:sp>
        <p:nvSpPr>
          <p:cNvPr name="TextBox 2" id="2"/>
          <p:cNvSpPr txBox="true"/>
          <p:nvPr/>
        </p:nvSpPr>
        <p:spPr>
          <a:xfrm rot="0">
            <a:off x="5871030" y="1185084"/>
            <a:ext cx="6545941" cy="885799"/>
          </a:xfrm>
          <a:prstGeom prst="rect">
            <a:avLst/>
          </a:prstGeom>
        </p:spPr>
        <p:txBody>
          <a:bodyPr anchor="t" rtlCol="false" tIns="0" lIns="0" bIns="0" rIns="0">
            <a:spAutoFit/>
          </a:bodyPr>
          <a:lstStyle/>
          <a:p>
            <a:pPr algn="ctr" marL="0" indent="0" lvl="0">
              <a:lnSpc>
                <a:spcPts val="6641"/>
              </a:lnSpc>
            </a:pPr>
            <a:r>
              <a:rPr lang="en-US" sz="6846">
                <a:solidFill>
                  <a:srgbClr val="005162"/>
                </a:solidFill>
                <a:latin typeface="Bree Serif"/>
                <a:ea typeface="Bree Serif"/>
                <a:cs typeface="Bree Serif"/>
                <a:sym typeface="Bree Serif"/>
              </a:rPr>
              <a:t>Kết Luận</a:t>
            </a:r>
          </a:p>
        </p:txBody>
      </p:sp>
      <p:sp>
        <p:nvSpPr>
          <p:cNvPr name="Freeform 3" id="3"/>
          <p:cNvSpPr/>
          <p:nvPr/>
        </p:nvSpPr>
        <p:spPr>
          <a:xfrm flipH="false" flipV="false" rot="1420155">
            <a:off x="-1455873" y="6220447"/>
            <a:ext cx="4128147" cy="4684237"/>
          </a:xfrm>
          <a:custGeom>
            <a:avLst/>
            <a:gdLst/>
            <a:ahLst/>
            <a:cxnLst/>
            <a:rect r="r" b="b" t="t" l="l"/>
            <a:pathLst>
              <a:path h="4684237" w="4128147">
                <a:moveTo>
                  <a:pt x="0" y="0"/>
                </a:moveTo>
                <a:lnTo>
                  <a:pt x="4128148" y="0"/>
                </a:lnTo>
                <a:lnTo>
                  <a:pt x="4128148" y="4684237"/>
                </a:lnTo>
                <a:lnTo>
                  <a:pt x="0" y="46842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808646" y="7949933"/>
            <a:ext cx="7645349" cy="3586364"/>
          </a:xfrm>
          <a:custGeom>
            <a:avLst/>
            <a:gdLst/>
            <a:ahLst/>
            <a:cxnLst/>
            <a:rect r="r" b="b" t="t" l="l"/>
            <a:pathLst>
              <a:path h="3586364" w="7645349">
                <a:moveTo>
                  <a:pt x="0" y="0"/>
                </a:moveTo>
                <a:lnTo>
                  <a:pt x="7645348" y="0"/>
                </a:lnTo>
                <a:lnTo>
                  <a:pt x="7645348" y="3586363"/>
                </a:lnTo>
                <a:lnTo>
                  <a:pt x="0" y="35863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27050" y="-4697616"/>
            <a:ext cx="6172103" cy="6172103"/>
          </a:xfrm>
          <a:custGeom>
            <a:avLst/>
            <a:gdLst/>
            <a:ahLst/>
            <a:cxnLst/>
            <a:rect r="r" b="b" t="t" l="l"/>
            <a:pathLst>
              <a:path h="6172103" w="6172103">
                <a:moveTo>
                  <a:pt x="0" y="0"/>
                </a:moveTo>
                <a:lnTo>
                  <a:pt x="6172103" y="0"/>
                </a:lnTo>
                <a:lnTo>
                  <a:pt x="6172103" y="6172102"/>
                </a:lnTo>
                <a:lnTo>
                  <a:pt x="0" y="61721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6387813">
            <a:off x="15051988" y="-924783"/>
            <a:ext cx="3472860" cy="3562928"/>
          </a:xfrm>
          <a:custGeom>
            <a:avLst/>
            <a:gdLst/>
            <a:ahLst/>
            <a:cxnLst/>
            <a:rect r="r" b="b" t="t" l="l"/>
            <a:pathLst>
              <a:path h="3562928" w="3472860">
                <a:moveTo>
                  <a:pt x="0" y="0"/>
                </a:moveTo>
                <a:lnTo>
                  <a:pt x="3472860" y="0"/>
                </a:lnTo>
                <a:lnTo>
                  <a:pt x="3472860" y="3562928"/>
                </a:lnTo>
                <a:lnTo>
                  <a:pt x="0" y="356292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5816991" y="2792993"/>
            <a:ext cx="4942018" cy="4114800"/>
          </a:xfrm>
          <a:custGeom>
            <a:avLst/>
            <a:gdLst/>
            <a:ahLst/>
            <a:cxnLst/>
            <a:rect r="r" b="b" t="t" l="l"/>
            <a:pathLst>
              <a:path h="4114800" w="4942018">
                <a:moveTo>
                  <a:pt x="0" y="0"/>
                </a:moveTo>
                <a:lnTo>
                  <a:pt x="4942018" y="0"/>
                </a:lnTo>
                <a:lnTo>
                  <a:pt x="4942018" y="4114800"/>
                </a:lnTo>
                <a:lnTo>
                  <a:pt x="0" y="4114800"/>
                </a:lnTo>
                <a:lnTo>
                  <a:pt x="0" y="0"/>
                </a:lnTo>
                <a:close/>
              </a:path>
            </a:pathLst>
          </a:custGeom>
          <a:blipFill>
            <a:blip r:embed="rId10">
              <a:alphaModFix amt="4700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2023967">
            <a:off x="-630674" y="7070241"/>
            <a:ext cx="5624839" cy="4028791"/>
          </a:xfrm>
          <a:custGeom>
            <a:avLst/>
            <a:gdLst/>
            <a:ahLst/>
            <a:cxnLst/>
            <a:rect r="r" b="b" t="t" l="l"/>
            <a:pathLst>
              <a:path h="4028791" w="5624839">
                <a:moveTo>
                  <a:pt x="0" y="0"/>
                </a:moveTo>
                <a:lnTo>
                  <a:pt x="5624839" y="0"/>
                </a:lnTo>
                <a:lnTo>
                  <a:pt x="5624839" y="4028790"/>
                </a:lnTo>
                <a:lnTo>
                  <a:pt x="0" y="4028790"/>
                </a:lnTo>
                <a:lnTo>
                  <a:pt x="0" y="0"/>
                </a:lnTo>
                <a:close/>
              </a:path>
            </a:pathLst>
          </a:custGeom>
          <a:blipFill>
            <a:blip r:embed="rId12"/>
            <a:stretch>
              <a:fillRect l="0" t="0" r="0" b="0"/>
            </a:stretch>
          </a:blipFill>
        </p:spPr>
      </p:sp>
      <p:sp>
        <p:nvSpPr>
          <p:cNvPr name="Freeform 9" id="9"/>
          <p:cNvSpPr/>
          <p:nvPr/>
        </p:nvSpPr>
        <p:spPr>
          <a:xfrm flipH="false" flipV="false" rot="2700000">
            <a:off x="-754245" y="-54620"/>
            <a:ext cx="4542238" cy="2370222"/>
          </a:xfrm>
          <a:custGeom>
            <a:avLst/>
            <a:gdLst/>
            <a:ahLst/>
            <a:cxnLst/>
            <a:rect r="r" b="b" t="t" l="l"/>
            <a:pathLst>
              <a:path h="2370222" w="4542238">
                <a:moveTo>
                  <a:pt x="0" y="0"/>
                </a:moveTo>
                <a:lnTo>
                  <a:pt x="4542238" y="0"/>
                </a:lnTo>
                <a:lnTo>
                  <a:pt x="4542238" y="2370223"/>
                </a:lnTo>
                <a:lnTo>
                  <a:pt x="0" y="237022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0" id="10"/>
          <p:cNvSpPr txBox="true"/>
          <p:nvPr/>
        </p:nvSpPr>
        <p:spPr>
          <a:xfrm rot="0">
            <a:off x="3546235" y="2697743"/>
            <a:ext cx="11195529" cy="1658096"/>
          </a:xfrm>
          <a:prstGeom prst="rect">
            <a:avLst/>
          </a:prstGeom>
        </p:spPr>
        <p:txBody>
          <a:bodyPr anchor="t" rtlCol="false" tIns="0" lIns="0" bIns="0" rIns="0">
            <a:spAutoFit/>
          </a:bodyPr>
          <a:lstStyle/>
          <a:p>
            <a:pPr algn="l" marL="0" indent="0" lvl="0">
              <a:lnSpc>
                <a:spcPts val="3241"/>
              </a:lnSpc>
            </a:pPr>
            <a:r>
              <a:rPr lang="en-US" sz="2315" spc="25">
                <a:solidFill>
                  <a:srgbClr val="000000"/>
                </a:solidFill>
                <a:latin typeface="Codec Pro"/>
                <a:ea typeface="Codec Pro"/>
                <a:cs typeface="Codec Pro"/>
                <a:sym typeface="Codec Pro"/>
              </a:rPr>
              <a:t>Vật liệu cách điện đóng vai trò thiết yếu trong mọi hệ thống điện. Việc lựa chọn đúng loại vật liệu cách điện phù hợp với điều kiện sử dụng giúp bảo vệ con người và thiết bị khỏi các nguy cơ tiềm ẩn. Mỗi loại vật liệu có đặc tính riêng về độ bền điện, khả năng chịu nhiệt và độ bền cơ học.</a:t>
            </a:r>
          </a:p>
        </p:txBody>
      </p:sp>
      <p:sp>
        <p:nvSpPr>
          <p:cNvPr name="TextBox 11" id="11"/>
          <p:cNvSpPr txBox="true"/>
          <p:nvPr/>
        </p:nvSpPr>
        <p:spPr>
          <a:xfrm rot="0">
            <a:off x="3546235" y="4835136"/>
            <a:ext cx="11195529" cy="2084324"/>
          </a:xfrm>
          <a:prstGeom prst="rect">
            <a:avLst/>
          </a:prstGeom>
        </p:spPr>
        <p:txBody>
          <a:bodyPr anchor="t" rtlCol="false" tIns="0" lIns="0" bIns="0" rIns="0">
            <a:spAutoFit/>
          </a:bodyPr>
          <a:lstStyle/>
          <a:p>
            <a:pPr algn="l" marL="0" indent="0" lvl="0">
              <a:lnSpc>
                <a:spcPts val="3241"/>
              </a:lnSpc>
            </a:pPr>
            <a:r>
              <a:rPr lang="en-US" sz="2315" spc="25">
                <a:solidFill>
                  <a:srgbClr val="000000"/>
                </a:solidFill>
                <a:latin typeface="Codec Pro"/>
                <a:ea typeface="Codec Pro"/>
                <a:cs typeface="Codec Pro"/>
                <a:sym typeface="Codec Pro"/>
              </a:rPr>
              <a:t>• Chọn đúng vật liệu cách điện giúp giảm nguy cơ điện giật, chập cháy và hư hỏng thiết bị. Luôn kiểm tra thông số kỹ thuật trước khi sử dụng, đảm bảo vật liệu đáp ứng tiêu chuẩn an toàn điện hiện hành. Bảo trì định kỳ và thay thế kịp thời các vật liệu cách điện bị lão hóa là biện pháp phòng ngừa quan trọng nhất.</a:t>
            </a:r>
          </a:p>
        </p:txBody>
      </p:sp>
      <p:sp>
        <p:nvSpPr>
          <p:cNvPr name="Freeform 12" id="12"/>
          <p:cNvSpPr/>
          <p:nvPr/>
        </p:nvSpPr>
        <p:spPr>
          <a:xfrm flipH="false" flipV="false" rot="0">
            <a:off x="5256518" y="7638904"/>
            <a:ext cx="6399161" cy="6496610"/>
          </a:xfrm>
          <a:custGeom>
            <a:avLst/>
            <a:gdLst/>
            <a:ahLst/>
            <a:cxnLst/>
            <a:rect r="r" b="b" t="t" l="l"/>
            <a:pathLst>
              <a:path h="6496610" w="6399161">
                <a:moveTo>
                  <a:pt x="0" y="0"/>
                </a:moveTo>
                <a:lnTo>
                  <a:pt x="6399161" y="0"/>
                </a:lnTo>
                <a:lnTo>
                  <a:pt x="6399161" y="6496610"/>
                </a:lnTo>
                <a:lnTo>
                  <a:pt x="0" y="6496610"/>
                </a:lnTo>
                <a:lnTo>
                  <a:pt x="0" y="0"/>
                </a:lnTo>
                <a:close/>
              </a:path>
            </a:pathLst>
          </a:custGeom>
          <a:blipFill>
            <a:blip r:embed="rId1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4ED"/>
        </a:solidFill>
      </p:bgPr>
    </p:bg>
    <p:spTree>
      <p:nvGrpSpPr>
        <p:cNvPr id="1" name=""/>
        <p:cNvGrpSpPr/>
        <p:nvPr/>
      </p:nvGrpSpPr>
      <p:grpSpPr>
        <a:xfrm>
          <a:off x="0" y="0"/>
          <a:ext cx="0" cy="0"/>
          <a:chOff x="0" y="0"/>
          <a:chExt cx="0" cy="0"/>
        </a:xfrm>
      </p:grpSpPr>
      <p:sp>
        <p:nvSpPr>
          <p:cNvPr name="Freeform 2" id="2"/>
          <p:cNvSpPr/>
          <p:nvPr/>
        </p:nvSpPr>
        <p:spPr>
          <a:xfrm flipH="false" flipV="false" rot="0">
            <a:off x="-1561816" y="-2695687"/>
            <a:ext cx="6172103" cy="6172103"/>
          </a:xfrm>
          <a:custGeom>
            <a:avLst/>
            <a:gdLst/>
            <a:ahLst/>
            <a:cxnLst/>
            <a:rect r="r" b="b" t="t" l="l"/>
            <a:pathLst>
              <a:path h="6172103" w="6172103">
                <a:moveTo>
                  <a:pt x="0" y="0"/>
                </a:moveTo>
                <a:lnTo>
                  <a:pt x="6172103" y="0"/>
                </a:lnTo>
                <a:lnTo>
                  <a:pt x="6172103" y="6172103"/>
                </a:lnTo>
                <a:lnTo>
                  <a:pt x="0" y="61721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420155">
            <a:off x="-2426880" y="4750015"/>
            <a:ext cx="5270046" cy="5979957"/>
          </a:xfrm>
          <a:custGeom>
            <a:avLst/>
            <a:gdLst/>
            <a:ahLst/>
            <a:cxnLst/>
            <a:rect r="r" b="b" t="t" l="l"/>
            <a:pathLst>
              <a:path h="5979957" w="5270046">
                <a:moveTo>
                  <a:pt x="0" y="0"/>
                </a:moveTo>
                <a:lnTo>
                  <a:pt x="5270046" y="0"/>
                </a:lnTo>
                <a:lnTo>
                  <a:pt x="5270046" y="5979957"/>
                </a:lnTo>
                <a:lnTo>
                  <a:pt x="0" y="59799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980627" y="2948009"/>
            <a:ext cx="10326747" cy="4667679"/>
          </a:xfrm>
          <a:prstGeom prst="rect">
            <a:avLst/>
          </a:prstGeom>
        </p:spPr>
        <p:txBody>
          <a:bodyPr anchor="t" rtlCol="false" tIns="0" lIns="0" bIns="0" rIns="0">
            <a:spAutoFit/>
          </a:bodyPr>
          <a:lstStyle/>
          <a:p>
            <a:pPr algn="ctr" marL="0" indent="0" lvl="0">
              <a:lnSpc>
                <a:spcPts val="7289"/>
              </a:lnSpc>
            </a:pPr>
            <a:r>
              <a:rPr lang="en-US" sz="7514">
                <a:solidFill>
                  <a:srgbClr val="005162"/>
                </a:solidFill>
                <a:latin typeface="Bree Serif"/>
                <a:ea typeface="Bree Serif"/>
                <a:cs typeface="Bree Serif"/>
                <a:sym typeface="Bree Serif"/>
              </a:rPr>
              <a:t>Cảm Ơn!</a:t>
            </a:r>
          </a:p>
          <a:p>
            <a:pPr algn="ctr" marL="0" indent="0" lvl="0">
              <a:lnSpc>
                <a:spcPts val="7289"/>
              </a:lnSpc>
            </a:pPr>
            <a:r>
              <a:rPr lang="en-US" sz="7514">
                <a:solidFill>
                  <a:srgbClr val="005162"/>
                </a:solidFill>
                <a:latin typeface="Bree Serif"/>
                <a:ea typeface="Bree Serif"/>
                <a:cs typeface="Bree Serif"/>
                <a:sym typeface="Bree Serif"/>
              </a:rPr>
              <a:t>Hãy luôn kiểm tra</a:t>
            </a:r>
          </a:p>
          <a:p>
            <a:pPr algn="ctr" marL="0" indent="0" lvl="0">
              <a:lnSpc>
                <a:spcPts val="7289"/>
              </a:lnSpc>
            </a:pPr>
            <a:r>
              <a:rPr lang="en-US" sz="7514">
                <a:solidFill>
                  <a:srgbClr val="005162"/>
                </a:solidFill>
                <a:latin typeface="Bree Serif"/>
                <a:ea typeface="Bree Serif"/>
                <a:cs typeface="Bree Serif"/>
                <a:sym typeface="Bree Serif"/>
              </a:rPr>
              <a:t>lớp cách điện</a:t>
            </a:r>
          </a:p>
          <a:p>
            <a:pPr algn="ctr" marL="0" indent="0" lvl="0">
              <a:lnSpc>
                <a:spcPts val="7289"/>
              </a:lnSpc>
            </a:pPr>
            <a:r>
              <a:rPr lang="en-US" sz="7514">
                <a:solidFill>
                  <a:srgbClr val="005162"/>
                </a:solidFill>
                <a:latin typeface="Bree Serif"/>
                <a:ea typeface="Bree Serif"/>
                <a:cs typeface="Bree Serif"/>
                <a:sym typeface="Bree Serif"/>
              </a:rPr>
              <a:t>trước khi sử dụng</a:t>
            </a:r>
          </a:p>
          <a:p>
            <a:pPr algn="ctr" marL="0" indent="0" lvl="0">
              <a:lnSpc>
                <a:spcPts val="7289"/>
              </a:lnSpc>
            </a:pPr>
            <a:r>
              <a:rPr lang="en-US" sz="7514">
                <a:solidFill>
                  <a:srgbClr val="005162"/>
                </a:solidFill>
                <a:latin typeface="Bree Serif"/>
                <a:ea typeface="Bree Serif"/>
                <a:cs typeface="Bree Serif"/>
                <a:sym typeface="Bree Serif"/>
              </a:rPr>
              <a:t>thiết bị điện!</a:t>
            </a:r>
          </a:p>
        </p:txBody>
      </p:sp>
      <p:sp>
        <p:nvSpPr>
          <p:cNvPr name="Freeform 5" id="5"/>
          <p:cNvSpPr/>
          <p:nvPr/>
        </p:nvSpPr>
        <p:spPr>
          <a:xfrm flipH="false" flipV="false" rot="0">
            <a:off x="5107441" y="8104802"/>
            <a:ext cx="7315200" cy="3431494"/>
          </a:xfrm>
          <a:custGeom>
            <a:avLst/>
            <a:gdLst/>
            <a:ahLst/>
            <a:cxnLst/>
            <a:rect r="r" b="b" t="t" l="l"/>
            <a:pathLst>
              <a:path h="3431494" w="7315200">
                <a:moveTo>
                  <a:pt x="0" y="0"/>
                </a:moveTo>
                <a:lnTo>
                  <a:pt x="7315200" y="0"/>
                </a:lnTo>
                <a:lnTo>
                  <a:pt x="7315200" y="3431494"/>
                </a:lnTo>
                <a:lnTo>
                  <a:pt x="0" y="34314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6387813">
            <a:off x="182525" y="-98785"/>
            <a:ext cx="4010781" cy="4114800"/>
          </a:xfrm>
          <a:custGeom>
            <a:avLst/>
            <a:gdLst/>
            <a:ahLst/>
            <a:cxnLst/>
            <a:rect r="r" b="b" t="t" l="l"/>
            <a:pathLst>
              <a:path h="4114800" w="4010781">
                <a:moveTo>
                  <a:pt x="0" y="0"/>
                </a:moveTo>
                <a:lnTo>
                  <a:pt x="4010781" y="0"/>
                </a:lnTo>
                <a:lnTo>
                  <a:pt x="401078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821957" y="-2291087"/>
            <a:ext cx="4942018" cy="4114800"/>
          </a:xfrm>
          <a:custGeom>
            <a:avLst/>
            <a:gdLst/>
            <a:ahLst/>
            <a:cxnLst/>
            <a:rect r="r" b="b" t="t" l="l"/>
            <a:pathLst>
              <a:path h="4114800" w="4942018">
                <a:moveTo>
                  <a:pt x="0" y="0"/>
                </a:moveTo>
                <a:lnTo>
                  <a:pt x="4942018" y="0"/>
                </a:lnTo>
                <a:lnTo>
                  <a:pt x="4942018" y="4114800"/>
                </a:lnTo>
                <a:lnTo>
                  <a:pt x="0" y="4114800"/>
                </a:lnTo>
                <a:lnTo>
                  <a:pt x="0" y="0"/>
                </a:lnTo>
                <a:close/>
              </a:path>
            </a:pathLst>
          </a:custGeom>
          <a:blipFill>
            <a:blip r:embed="rId10">
              <a:alphaModFix amt="4700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2023967">
            <a:off x="-383835" y="6339742"/>
            <a:ext cx="5143500" cy="4114800"/>
          </a:xfrm>
          <a:custGeom>
            <a:avLst/>
            <a:gdLst/>
            <a:ahLst/>
            <a:cxnLst/>
            <a:rect r="r" b="b" t="t" l="l"/>
            <a:pathLst>
              <a:path h="4114800" w="5143500">
                <a:moveTo>
                  <a:pt x="0" y="0"/>
                </a:moveTo>
                <a:lnTo>
                  <a:pt x="5143500" y="0"/>
                </a:lnTo>
                <a:lnTo>
                  <a:pt x="5143500"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2700000">
            <a:off x="12824742" y="439426"/>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0">
            <a:off x="12932896" y="6445982"/>
            <a:ext cx="6732262" cy="6749135"/>
          </a:xfrm>
          <a:custGeom>
            <a:avLst/>
            <a:gdLst/>
            <a:ahLst/>
            <a:cxnLst/>
            <a:rect r="r" b="b" t="t" l="l"/>
            <a:pathLst>
              <a:path h="6749135" w="6732262">
                <a:moveTo>
                  <a:pt x="0" y="0"/>
                </a:moveTo>
                <a:lnTo>
                  <a:pt x="6732262" y="0"/>
                </a:lnTo>
                <a:lnTo>
                  <a:pt x="6732262" y="6749135"/>
                </a:lnTo>
                <a:lnTo>
                  <a:pt x="0" y="6749135"/>
                </a:lnTo>
                <a:lnTo>
                  <a:pt x="0" y="0"/>
                </a:lnTo>
                <a:close/>
              </a:path>
            </a:pathLst>
          </a:custGeom>
          <a:blipFill>
            <a:blip r:embed="rId1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DAHWZyH0-nw</dc:identifier>
  <dcterms:modified xsi:type="dcterms:W3CDTF">2011-08-01T06:04:30Z</dcterms:modified>
  <cp:revision>1</cp:revision>
</cp:coreProperties>
</file>