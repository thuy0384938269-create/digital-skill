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Open Sauce Bold" charset="1" panose="00000800000000000000"/>
      <p:regular r:id="rId12"/>
    </p:embeddedFont>
    <p:embeddedFont>
      <p:font typeface="Lato Bold" charset="1" panose="020F0502020204030203"/>
      <p:regular r:id="rId13"/>
    </p:embeddedFont>
    <p:embeddedFont>
      <p:font typeface="Lato" charset="1" panose="020F0502020204030203"/>
      <p:regular r:id="rId14"/>
    </p:embeddedFont>
    <p:embeddedFont>
      <p:font typeface="Lato Bold Italics" charset="1" panose="020F0502020204030203"/>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2" Target="../media/image9.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sp>
        <p:nvSpPr>
          <p:cNvPr name="TextBox 3" id="3"/>
          <p:cNvSpPr txBox="true"/>
          <p:nvPr/>
        </p:nvSpPr>
        <p:spPr>
          <a:xfrm rot="0">
            <a:off x="1028700" y="1064231"/>
            <a:ext cx="13152760" cy="4671925"/>
          </a:xfrm>
          <a:prstGeom prst="rect">
            <a:avLst/>
          </a:prstGeom>
        </p:spPr>
        <p:txBody>
          <a:bodyPr anchor="t" rtlCol="false" tIns="0" lIns="0" bIns="0" rIns="0">
            <a:spAutoFit/>
          </a:bodyPr>
          <a:lstStyle/>
          <a:p>
            <a:pPr algn="l" marL="0" indent="0" lvl="0">
              <a:lnSpc>
                <a:spcPts val="12481"/>
              </a:lnSpc>
              <a:spcBef>
                <a:spcPct val="0"/>
              </a:spcBef>
            </a:pPr>
            <a:r>
              <a:rPr lang="en-US" b="true" sz="8915">
                <a:solidFill>
                  <a:srgbClr val="FFFFFF"/>
                </a:solidFill>
                <a:latin typeface="Open Sauce Bold"/>
                <a:ea typeface="Open Sauce Bold"/>
                <a:cs typeface="Open Sauce Bold"/>
                <a:sym typeface="Open Sauce Bold"/>
              </a:rPr>
              <a:t>NỘI LỰC VÀ TÁC ĐỘNG CỦA NỘI LỰC ĐẾN BỀ MẶT TRÁI ĐẤT</a:t>
            </a:r>
          </a:p>
        </p:txBody>
      </p:sp>
      <p:sp>
        <p:nvSpPr>
          <p:cNvPr name="TextBox 4" id="4"/>
          <p:cNvSpPr txBox="true"/>
          <p:nvPr/>
        </p:nvSpPr>
        <p:spPr>
          <a:xfrm rot="0">
            <a:off x="3204999" y="5980380"/>
            <a:ext cx="4724505" cy="506613"/>
          </a:xfrm>
          <a:prstGeom prst="rect">
            <a:avLst/>
          </a:prstGeom>
        </p:spPr>
        <p:txBody>
          <a:bodyPr anchor="t" rtlCol="false" tIns="0" lIns="0" bIns="0" rIns="0">
            <a:spAutoFit/>
          </a:bodyPr>
          <a:lstStyle/>
          <a:p>
            <a:pPr algn="l" marL="0" indent="0" lvl="0">
              <a:lnSpc>
                <a:spcPts val="4101"/>
              </a:lnSpc>
            </a:pPr>
            <a:r>
              <a:rPr lang="en-US" b="true" sz="2929">
                <a:solidFill>
                  <a:srgbClr val="FFFFFF"/>
                </a:solidFill>
                <a:latin typeface="Lato Bold"/>
                <a:ea typeface="Lato Bold"/>
                <a:cs typeface="Lato Bold"/>
                <a:sym typeface="Lato Bold"/>
              </a:rPr>
              <a:t>Nội Lực &amp; Biến Đổi Địa Hình</a:t>
            </a:r>
          </a:p>
        </p:txBody>
      </p:sp>
      <p:grpSp>
        <p:nvGrpSpPr>
          <p:cNvPr name="Group 5" id="5"/>
          <p:cNvGrpSpPr/>
          <p:nvPr/>
        </p:nvGrpSpPr>
        <p:grpSpPr>
          <a:xfrm rot="0">
            <a:off x="1028700" y="389660"/>
            <a:ext cx="3529847" cy="639040"/>
            <a:chOff x="0" y="0"/>
            <a:chExt cx="4706462" cy="852054"/>
          </a:xfrm>
        </p:grpSpPr>
        <p:sp>
          <p:nvSpPr>
            <p:cNvPr name="Freeform 6" id="6"/>
            <p:cNvSpPr/>
            <p:nvPr/>
          </p:nvSpPr>
          <p:spPr>
            <a:xfrm flipH="false" flipV="false" rot="0">
              <a:off x="0" y="0"/>
              <a:ext cx="887556" cy="852054"/>
            </a:xfrm>
            <a:custGeom>
              <a:avLst/>
              <a:gdLst/>
              <a:ahLst/>
              <a:cxnLst/>
              <a:rect r="r" b="b" t="t" l="l"/>
              <a:pathLst>
                <a:path h="852054" w="887556">
                  <a:moveTo>
                    <a:pt x="0" y="0"/>
                  </a:moveTo>
                  <a:lnTo>
                    <a:pt x="887556" y="0"/>
                  </a:lnTo>
                  <a:lnTo>
                    <a:pt x="887556" y="852054"/>
                  </a:lnTo>
                  <a:lnTo>
                    <a:pt x="0" y="8520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142277" y="64033"/>
              <a:ext cx="3564185" cy="556307"/>
            </a:xfrm>
            <a:prstGeom prst="rect">
              <a:avLst/>
            </a:prstGeom>
          </p:spPr>
          <p:txBody>
            <a:bodyPr anchor="t" rtlCol="false" tIns="0" lIns="0" bIns="0" rIns="0">
              <a:spAutoFit/>
            </a:bodyPr>
            <a:lstStyle/>
            <a:p>
              <a:pPr algn="l" marL="0" indent="0" lvl="0">
                <a:lnSpc>
                  <a:spcPts val="3515"/>
                </a:lnSpc>
              </a:pPr>
              <a:r>
                <a:rPr lang="en-US" b="true" sz="2511">
                  <a:solidFill>
                    <a:srgbClr val="FFFFFF"/>
                  </a:solidFill>
                  <a:latin typeface="Lato Bold"/>
                  <a:ea typeface="Lato Bold"/>
                  <a:cs typeface="Lato Bold"/>
                  <a:sym typeface="Lato Bold"/>
                </a:rPr>
                <a:t>Vertex Systems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grpSp>
        <p:nvGrpSpPr>
          <p:cNvPr name="Group 3" id="3"/>
          <p:cNvGrpSpPr/>
          <p:nvPr/>
        </p:nvGrpSpPr>
        <p:grpSpPr>
          <a:xfrm rot="0">
            <a:off x="7379077" y="1028700"/>
            <a:ext cx="3529847" cy="639040"/>
            <a:chOff x="0" y="0"/>
            <a:chExt cx="4706462" cy="852054"/>
          </a:xfrm>
        </p:grpSpPr>
        <p:sp>
          <p:nvSpPr>
            <p:cNvPr name="Freeform 4" id="4"/>
            <p:cNvSpPr/>
            <p:nvPr/>
          </p:nvSpPr>
          <p:spPr>
            <a:xfrm flipH="false" flipV="false" rot="0">
              <a:off x="0" y="0"/>
              <a:ext cx="887556" cy="852054"/>
            </a:xfrm>
            <a:custGeom>
              <a:avLst/>
              <a:gdLst/>
              <a:ahLst/>
              <a:cxnLst/>
              <a:rect r="r" b="b" t="t" l="l"/>
              <a:pathLst>
                <a:path h="852054" w="887556">
                  <a:moveTo>
                    <a:pt x="0" y="0"/>
                  </a:moveTo>
                  <a:lnTo>
                    <a:pt x="887556" y="0"/>
                  </a:lnTo>
                  <a:lnTo>
                    <a:pt x="887556" y="852054"/>
                  </a:lnTo>
                  <a:lnTo>
                    <a:pt x="0" y="8520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142277" y="64033"/>
              <a:ext cx="3564185" cy="654121"/>
            </a:xfrm>
            <a:prstGeom prst="rect">
              <a:avLst/>
            </a:prstGeom>
          </p:spPr>
          <p:txBody>
            <a:bodyPr anchor="t" rtlCol="false" tIns="0" lIns="0" bIns="0" rIns="0">
              <a:spAutoFit/>
            </a:bodyPr>
            <a:lstStyle/>
            <a:p>
              <a:pPr algn="l" marL="0" indent="0" lvl="0">
                <a:lnSpc>
                  <a:spcPts val="4197"/>
                </a:lnSpc>
              </a:pPr>
              <a:r>
                <a:rPr lang="en-US" b="true" sz="2997">
                  <a:solidFill>
                    <a:srgbClr val="FFFFFF"/>
                  </a:solidFill>
                  <a:latin typeface="Lato Bold"/>
                  <a:ea typeface="Lato Bold"/>
                  <a:cs typeface="Lato Bold"/>
                  <a:sym typeface="Lato Bold"/>
                </a:rPr>
                <a:t>Địa Lí Tự Nhiên</a:t>
              </a:r>
            </a:p>
          </p:txBody>
        </p:sp>
      </p:grpSp>
      <p:sp>
        <p:nvSpPr>
          <p:cNvPr name="Freeform 6" id="6"/>
          <p:cNvSpPr/>
          <p:nvPr/>
        </p:nvSpPr>
        <p:spPr>
          <a:xfrm flipH="false" flipV="false" rot="0">
            <a:off x="1167236" y="6621606"/>
            <a:ext cx="15953528" cy="2538390"/>
          </a:xfrm>
          <a:custGeom>
            <a:avLst/>
            <a:gdLst/>
            <a:ahLst/>
            <a:cxnLst/>
            <a:rect r="r" b="b" t="t" l="l"/>
            <a:pathLst>
              <a:path h="2538390" w="15953528">
                <a:moveTo>
                  <a:pt x="0" y="0"/>
                </a:moveTo>
                <a:lnTo>
                  <a:pt x="15953528" y="0"/>
                </a:lnTo>
                <a:lnTo>
                  <a:pt x="15953528" y="2538390"/>
                </a:lnTo>
                <a:lnTo>
                  <a:pt x="0" y="2538390"/>
                </a:lnTo>
                <a:lnTo>
                  <a:pt x="0" y="0"/>
                </a:lnTo>
                <a:close/>
              </a:path>
            </a:pathLst>
          </a:custGeom>
          <a:blipFill>
            <a:blip r:embed="rId5"/>
            <a:stretch>
              <a:fillRect l="0" t="-735" r="0" b="-735"/>
            </a:stretch>
          </a:blipFill>
        </p:spPr>
      </p:sp>
      <p:sp>
        <p:nvSpPr>
          <p:cNvPr name="TextBox 7" id="7"/>
          <p:cNvSpPr txBox="true"/>
          <p:nvPr/>
        </p:nvSpPr>
        <p:spPr>
          <a:xfrm rot="0">
            <a:off x="3970717" y="2097068"/>
            <a:ext cx="10346566" cy="1708330"/>
          </a:xfrm>
          <a:prstGeom prst="rect">
            <a:avLst/>
          </a:prstGeom>
        </p:spPr>
        <p:txBody>
          <a:bodyPr anchor="t" rtlCol="false" tIns="0" lIns="0" bIns="0" rIns="0">
            <a:spAutoFit/>
          </a:bodyPr>
          <a:lstStyle/>
          <a:p>
            <a:pPr algn="ctr" marL="0" indent="0" lvl="0">
              <a:lnSpc>
                <a:spcPts val="13990"/>
              </a:lnSpc>
              <a:spcBef>
                <a:spcPct val="0"/>
              </a:spcBef>
            </a:pPr>
            <a:r>
              <a:rPr lang="en-US" b="true" sz="9992">
                <a:solidFill>
                  <a:srgbClr val="FFFFFF"/>
                </a:solidFill>
                <a:latin typeface="Open Sauce Bold"/>
                <a:ea typeface="Open Sauce Bold"/>
                <a:cs typeface="Open Sauce Bold"/>
                <a:sym typeface="Open Sauce Bold"/>
              </a:rPr>
              <a:t>NỘI LỰC</a:t>
            </a:r>
          </a:p>
        </p:txBody>
      </p:sp>
      <p:sp>
        <p:nvSpPr>
          <p:cNvPr name="TextBox 8" id="8"/>
          <p:cNvSpPr txBox="true"/>
          <p:nvPr/>
        </p:nvSpPr>
        <p:spPr>
          <a:xfrm rot="0">
            <a:off x="485243" y="5197448"/>
            <a:ext cx="7828118" cy="2071044"/>
          </a:xfrm>
          <a:prstGeom prst="rect">
            <a:avLst/>
          </a:prstGeom>
        </p:spPr>
        <p:txBody>
          <a:bodyPr anchor="t" rtlCol="false" tIns="0" lIns="0" bIns="0" rIns="0">
            <a:spAutoFit/>
          </a:bodyPr>
          <a:lstStyle/>
          <a:p>
            <a:pPr algn="just" marL="0" indent="0" lvl="0">
              <a:lnSpc>
                <a:spcPts val="5582"/>
              </a:lnSpc>
            </a:pPr>
            <a:r>
              <a:rPr lang="en-US" sz="3987">
                <a:solidFill>
                  <a:srgbClr val="FFFFFF"/>
                </a:solidFill>
                <a:latin typeface="Lato"/>
                <a:ea typeface="Lato"/>
                <a:cs typeface="Lato"/>
                <a:sym typeface="Lato"/>
              </a:rPr>
              <a:t>Nội lực là lực sinh  ra trong lòng trái đất ,liên quan đến nguồn năng lượng bên trong trái đất</a:t>
            </a:r>
          </a:p>
        </p:txBody>
      </p:sp>
      <p:sp>
        <p:nvSpPr>
          <p:cNvPr name="TextBox 9" id="9"/>
          <p:cNvSpPr txBox="true"/>
          <p:nvPr/>
        </p:nvSpPr>
        <p:spPr>
          <a:xfrm rot="0">
            <a:off x="8603085" y="5197448"/>
            <a:ext cx="8983330" cy="1844165"/>
          </a:xfrm>
          <a:prstGeom prst="rect">
            <a:avLst/>
          </a:prstGeom>
        </p:spPr>
        <p:txBody>
          <a:bodyPr anchor="t" rtlCol="false" tIns="0" lIns="0" bIns="0" rIns="0">
            <a:spAutoFit/>
          </a:bodyPr>
          <a:lstStyle/>
          <a:p>
            <a:pPr algn="l">
              <a:lnSpc>
                <a:spcPts val="4928"/>
              </a:lnSpc>
              <a:spcBef>
                <a:spcPct val="0"/>
              </a:spcBef>
            </a:pPr>
            <a:r>
              <a:rPr lang="en-US" b="true" sz="3520">
                <a:solidFill>
                  <a:srgbClr val="FFFFFF"/>
                </a:solidFill>
                <a:latin typeface="Lato Bold"/>
                <a:ea typeface="Lato Bold"/>
                <a:cs typeface="Lato Bold"/>
                <a:sym typeface="Lato Bold"/>
              </a:rPr>
              <a:t>Nguyên nhân sinh ra nội lực là do phân hủy các chất phóng xạ, do các phản ứng tỏa nhiệt, hoạt động tự quay của trái đất....</a:t>
            </a:r>
          </a:p>
        </p:txBody>
      </p:sp>
      <p:sp>
        <p:nvSpPr>
          <p:cNvPr name="TextBox 10" id="10"/>
          <p:cNvSpPr txBox="true"/>
          <p:nvPr/>
        </p:nvSpPr>
        <p:spPr>
          <a:xfrm rot="0">
            <a:off x="563968" y="4638621"/>
            <a:ext cx="1924645" cy="504879"/>
          </a:xfrm>
          <a:prstGeom prst="rect">
            <a:avLst/>
          </a:prstGeom>
        </p:spPr>
        <p:txBody>
          <a:bodyPr anchor="t" rtlCol="false" tIns="0" lIns="0" bIns="0" rIns="0">
            <a:spAutoFit/>
          </a:bodyPr>
          <a:lstStyle/>
          <a:p>
            <a:pPr algn="ctr">
              <a:lnSpc>
                <a:spcPts val="4197"/>
              </a:lnSpc>
              <a:spcBef>
                <a:spcPct val="0"/>
              </a:spcBef>
            </a:pPr>
            <a:r>
              <a:rPr lang="en-US" b="true" sz="2997" i="true">
                <a:solidFill>
                  <a:srgbClr val="FFFFFF"/>
                </a:solidFill>
                <a:latin typeface="Lato Bold Italics"/>
                <a:ea typeface="Lato Bold Italics"/>
                <a:cs typeface="Lato Bold Italics"/>
                <a:sym typeface="Lato Bold Italics"/>
              </a:rPr>
              <a:t>KHÁI NIỆM</a:t>
            </a:r>
          </a:p>
        </p:txBody>
      </p:sp>
      <p:sp>
        <p:nvSpPr>
          <p:cNvPr name="TextBox 11" id="11"/>
          <p:cNvSpPr txBox="true"/>
          <p:nvPr/>
        </p:nvSpPr>
        <p:spPr>
          <a:xfrm rot="0">
            <a:off x="5567239" y="4638621"/>
            <a:ext cx="8983330" cy="504879"/>
          </a:xfrm>
          <a:prstGeom prst="rect">
            <a:avLst/>
          </a:prstGeom>
        </p:spPr>
        <p:txBody>
          <a:bodyPr anchor="t" rtlCol="false" tIns="0" lIns="0" bIns="0" rIns="0">
            <a:spAutoFit/>
          </a:bodyPr>
          <a:lstStyle/>
          <a:p>
            <a:pPr algn="ctr">
              <a:lnSpc>
                <a:spcPts val="4197"/>
              </a:lnSpc>
              <a:spcBef>
                <a:spcPct val="0"/>
              </a:spcBef>
            </a:pPr>
            <a:r>
              <a:rPr lang="en-US" b="true" sz="2997" i="true">
                <a:solidFill>
                  <a:srgbClr val="FFFFFF"/>
                </a:solidFill>
                <a:latin typeface="Lato Bold Italics"/>
                <a:ea typeface="Lato Bold Italics"/>
                <a:cs typeface="Lato Bold Italics"/>
                <a:sym typeface="Lato Bold Italics"/>
              </a:rPr>
              <a:t>NGUYÊN NHÂN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grpSp>
        <p:nvGrpSpPr>
          <p:cNvPr name="Group 3" id="3"/>
          <p:cNvGrpSpPr/>
          <p:nvPr/>
        </p:nvGrpSpPr>
        <p:grpSpPr>
          <a:xfrm rot="0">
            <a:off x="1028700" y="1028700"/>
            <a:ext cx="3529847" cy="639040"/>
            <a:chOff x="0" y="0"/>
            <a:chExt cx="4706462" cy="852054"/>
          </a:xfrm>
        </p:grpSpPr>
        <p:sp>
          <p:nvSpPr>
            <p:cNvPr name="Freeform 4" id="4"/>
            <p:cNvSpPr/>
            <p:nvPr/>
          </p:nvSpPr>
          <p:spPr>
            <a:xfrm flipH="false" flipV="false" rot="0">
              <a:off x="0" y="0"/>
              <a:ext cx="887556" cy="852054"/>
            </a:xfrm>
            <a:custGeom>
              <a:avLst/>
              <a:gdLst/>
              <a:ahLst/>
              <a:cxnLst/>
              <a:rect r="r" b="b" t="t" l="l"/>
              <a:pathLst>
                <a:path h="852054" w="887556">
                  <a:moveTo>
                    <a:pt x="0" y="0"/>
                  </a:moveTo>
                  <a:lnTo>
                    <a:pt x="887556" y="0"/>
                  </a:lnTo>
                  <a:lnTo>
                    <a:pt x="887556" y="852054"/>
                  </a:lnTo>
                  <a:lnTo>
                    <a:pt x="0" y="8520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142277" y="73558"/>
              <a:ext cx="3564185" cy="537273"/>
            </a:xfrm>
            <a:prstGeom prst="rect">
              <a:avLst/>
            </a:prstGeom>
          </p:spPr>
          <p:txBody>
            <a:bodyPr anchor="t" rtlCol="false" tIns="0" lIns="0" bIns="0" rIns="0">
              <a:spAutoFit/>
            </a:bodyPr>
            <a:lstStyle/>
            <a:p>
              <a:pPr algn="l" marL="0" indent="0" lvl="0">
                <a:lnSpc>
                  <a:spcPts val="3383"/>
                </a:lnSpc>
              </a:pPr>
              <a:r>
                <a:rPr lang="en-US" b="true" sz="2416">
                  <a:solidFill>
                    <a:srgbClr val="FFFFFF"/>
                  </a:solidFill>
                  <a:latin typeface="Lato Bold"/>
                  <a:ea typeface="Lato Bold"/>
                  <a:cs typeface="Lato Bold"/>
                  <a:sym typeface="Lato Bold"/>
                </a:rPr>
                <a:t>Địa Lí Trái Đất</a:t>
              </a:r>
            </a:p>
          </p:txBody>
        </p:sp>
      </p:grpSp>
      <p:sp>
        <p:nvSpPr>
          <p:cNvPr name="TextBox 6" id="6"/>
          <p:cNvSpPr txBox="true"/>
          <p:nvPr/>
        </p:nvSpPr>
        <p:spPr>
          <a:xfrm rot="0">
            <a:off x="1028700" y="2468543"/>
            <a:ext cx="9691928" cy="2612854"/>
          </a:xfrm>
          <a:prstGeom prst="rect">
            <a:avLst/>
          </a:prstGeom>
        </p:spPr>
        <p:txBody>
          <a:bodyPr anchor="t" rtlCol="false" tIns="0" lIns="0" bIns="0" rIns="0">
            <a:spAutoFit/>
          </a:bodyPr>
          <a:lstStyle/>
          <a:p>
            <a:pPr algn="l" marL="0" indent="0" lvl="0">
              <a:lnSpc>
                <a:spcPts val="10092"/>
              </a:lnSpc>
            </a:pPr>
            <a:r>
              <a:rPr lang="en-US" b="true" sz="9992">
                <a:solidFill>
                  <a:srgbClr val="FFFFFF"/>
                </a:solidFill>
                <a:latin typeface="Open Sauce Bold"/>
                <a:ea typeface="Open Sauce Bold"/>
                <a:cs typeface="Open Sauce Bold"/>
                <a:sym typeface="Open Sauce Bold"/>
              </a:rPr>
              <a:t>VẬN ĐỘNG NỘI LỰC</a:t>
            </a:r>
          </a:p>
        </p:txBody>
      </p:sp>
      <p:sp>
        <p:nvSpPr>
          <p:cNvPr name="TextBox 7" id="7"/>
          <p:cNvSpPr txBox="true"/>
          <p:nvPr/>
        </p:nvSpPr>
        <p:spPr>
          <a:xfrm rot="0">
            <a:off x="560781" y="6257889"/>
            <a:ext cx="8458519" cy="1753553"/>
          </a:xfrm>
          <a:prstGeom prst="rect">
            <a:avLst/>
          </a:prstGeom>
        </p:spPr>
        <p:txBody>
          <a:bodyPr anchor="t" rtlCol="false" tIns="0" lIns="0" bIns="0" rIns="0">
            <a:spAutoFit/>
          </a:bodyPr>
          <a:lstStyle/>
          <a:p>
            <a:pPr algn="just" marL="0" indent="0" lvl="0">
              <a:lnSpc>
                <a:spcPts val="4672"/>
              </a:lnSpc>
            </a:pPr>
            <a:r>
              <a:rPr lang="en-US" sz="3337">
                <a:solidFill>
                  <a:srgbClr val="FFFFFF"/>
                </a:solidFill>
                <a:latin typeface="Lato"/>
                <a:ea typeface="Lato"/>
                <a:cs typeface="Lato"/>
                <a:sym typeface="Lato"/>
              </a:rPr>
              <a:t>Vận </a:t>
            </a:r>
            <a:r>
              <a:rPr lang="en-US" sz="3337">
                <a:solidFill>
                  <a:srgbClr val="FFFFFF"/>
                </a:solidFill>
                <a:latin typeface="Lato"/>
                <a:ea typeface="Lato"/>
                <a:cs typeface="Lato"/>
                <a:sym typeface="Lato"/>
              </a:rPr>
              <a:t>động theo phương ngang làm cho vỏ trái đất bị nén ép ở chỗ này và tách dãn ở chỗ khác gây ra hiện tượng uốn nép và đứt gãy</a:t>
            </a:r>
          </a:p>
        </p:txBody>
      </p:sp>
      <p:sp>
        <p:nvSpPr>
          <p:cNvPr name="TextBox 8" id="8"/>
          <p:cNvSpPr txBox="true"/>
          <p:nvPr/>
        </p:nvSpPr>
        <p:spPr>
          <a:xfrm rot="0">
            <a:off x="9352461" y="5591593"/>
            <a:ext cx="7483460" cy="3124236"/>
          </a:xfrm>
          <a:prstGeom prst="rect">
            <a:avLst/>
          </a:prstGeom>
        </p:spPr>
        <p:txBody>
          <a:bodyPr anchor="t" rtlCol="false" tIns="0" lIns="0" bIns="0" rIns="0">
            <a:spAutoFit/>
          </a:bodyPr>
          <a:lstStyle/>
          <a:p>
            <a:pPr algn="just" marL="0" indent="0" lvl="0">
              <a:lnSpc>
                <a:spcPts val="4197"/>
              </a:lnSpc>
            </a:pPr>
            <a:r>
              <a:rPr lang="en-US" sz="2998">
                <a:solidFill>
                  <a:srgbClr val="FFFFFF"/>
                </a:solidFill>
                <a:latin typeface="Lato"/>
                <a:ea typeface="Lato"/>
                <a:cs typeface="Lato"/>
                <a:sym typeface="Lato"/>
              </a:rPr>
              <a:t>Vận động theo phương thẳng đứng là vận động nâng lên hạ xuống diễn ra trong một khu vực rộng lớn  làm cho bộ phận này được nâng lên trong khi bộ phận khác hạ xuống kết quả dẫn đến hiện tượng biển tiến biển thoái.</a:t>
            </a:r>
          </a:p>
        </p:txBody>
      </p:sp>
      <p:sp>
        <p:nvSpPr>
          <p:cNvPr name="TextBox 9" id="9"/>
          <p:cNvSpPr txBox="true"/>
          <p:nvPr/>
        </p:nvSpPr>
        <p:spPr>
          <a:xfrm rot="0">
            <a:off x="1028700" y="5381620"/>
            <a:ext cx="5629011" cy="571469"/>
          </a:xfrm>
          <a:prstGeom prst="rect">
            <a:avLst/>
          </a:prstGeom>
        </p:spPr>
        <p:txBody>
          <a:bodyPr anchor="t" rtlCol="false" tIns="0" lIns="0" bIns="0" rIns="0">
            <a:spAutoFit/>
          </a:bodyPr>
          <a:lstStyle/>
          <a:p>
            <a:pPr algn="ctr" marL="0" indent="0" lvl="0">
              <a:lnSpc>
                <a:spcPts val="4703"/>
              </a:lnSpc>
            </a:pPr>
            <a:r>
              <a:rPr lang="en-US" b="true" sz="3359" i="true">
                <a:solidFill>
                  <a:srgbClr val="FFFFFF"/>
                </a:solidFill>
                <a:latin typeface="Lato Bold Italics"/>
                <a:ea typeface="Lato Bold Italics"/>
                <a:cs typeface="Lato Bold Italics"/>
                <a:sym typeface="Lato Bold Italics"/>
              </a:rPr>
              <a:t>Vận động theo phương ngang</a:t>
            </a:r>
          </a:p>
        </p:txBody>
      </p:sp>
      <p:sp>
        <p:nvSpPr>
          <p:cNvPr name="TextBox 10" id="10"/>
          <p:cNvSpPr txBox="true"/>
          <p:nvPr/>
        </p:nvSpPr>
        <p:spPr>
          <a:xfrm rot="0">
            <a:off x="9576674" y="4847875"/>
            <a:ext cx="6157409" cy="628379"/>
          </a:xfrm>
          <a:prstGeom prst="rect">
            <a:avLst/>
          </a:prstGeom>
        </p:spPr>
        <p:txBody>
          <a:bodyPr anchor="t" rtlCol="false" tIns="0" lIns="0" bIns="0" rIns="0">
            <a:spAutoFit/>
          </a:bodyPr>
          <a:lstStyle/>
          <a:p>
            <a:pPr algn="ctr" marL="0" indent="0" lvl="0">
              <a:lnSpc>
                <a:spcPts val="5144"/>
              </a:lnSpc>
            </a:pPr>
            <a:r>
              <a:rPr lang="en-US" b="true" sz="3674" i="true">
                <a:solidFill>
                  <a:srgbClr val="FFFFFF"/>
                </a:solidFill>
                <a:latin typeface="Lato Bold Italics"/>
                <a:ea typeface="Lato Bold Italics"/>
                <a:cs typeface="Lato Bold Italics"/>
                <a:sym typeface="Lato Bold Italics"/>
              </a:rPr>
              <a:t>Vận động theo phương đứng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69479" y="1028700"/>
            <a:ext cx="13903305" cy="6998708"/>
          </a:xfrm>
          <a:custGeom>
            <a:avLst/>
            <a:gdLst/>
            <a:ahLst/>
            <a:cxnLst/>
            <a:rect r="r" b="b" t="t" l="l"/>
            <a:pathLst>
              <a:path h="6998708" w="13903305">
                <a:moveTo>
                  <a:pt x="0" y="0"/>
                </a:moveTo>
                <a:lnTo>
                  <a:pt x="13903304" y="0"/>
                </a:lnTo>
                <a:lnTo>
                  <a:pt x="13903304" y="6998708"/>
                </a:lnTo>
                <a:lnTo>
                  <a:pt x="0" y="6998708"/>
                </a:lnTo>
                <a:lnTo>
                  <a:pt x="0" y="0"/>
                </a:lnTo>
                <a:close/>
              </a:path>
            </a:pathLst>
          </a:custGeom>
          <a:blipFill>
            <a:blip r:embed="rId2"/>
            <a:stretch>
              <a:fillRect l="0" t="-2349" r="0" b="-6007"/>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42064" y="982726"/>
            <a:ext cx="12775068" cy="6858490"/>
          </a:xfrm>
          <a:custGeom>
            <a:avLst/>
            <a:gdLst/>
            <a:ahLst/>
            <a:cxnLst/>
            <a:rect r="r" b="b" t="t" l="l"/>
            <a:pathLst>
              <a:path h="6858490" w="12775068">
                <a:moveTo>
                  <a:pt x="0" y="0"/>
                </a:moveTo>
                <a:lnTo>
                  <a:pt x="12775068" y="0"/>
                </a:lnTo>
                <a:lnTo>
                  <a:pt x="12775068" y="6858490"/>
                </a:lnTo>
                <a:lnTo>
                  <a:pt x="0" y="6858490"/>
                </a:lnTo>
                <a:lnTo>
                  <a:pt x="0" y="0"/>
                </a:lnTo>
                <a:close/>
              </a:path>
            </a:pathLst>
          </a:custGeom>
          <a:blipFill>
            <a:blip r:embed="rId2"/>
            <a:stretch>
              <a:fillRect l="0" t="-1599"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grpSp>
        <p:nvGrpSpPr>
          <p:cNvPr name="Group 3" id="3"/>
          <p:cNvGrpSpPr/>
          <p:nvPr/>
        </p:nvGrpSpPr>
        <p:grpSpPr>
          <a:xfrm rot="0">
            <a:off x="7379077" y="1028700"/>
            <a:ext cx="3529847" cy="639040"/>
            <a:chOff x="0" y="0"/>
            <a:chExt cx="4706462" cy="852054"/>
          </a:xfrm>
        </p:grpSpPr>
        <p:sp>
          <p:nvSpPr>
            <p:cNvPr name="Freeform 4" id="4"/>
            <p:cNvSpPr/>
            <p:nvPr/>
          </p:nvSpPr>
          <p:spPr>
            <a:xfrm flipH="false" flipV="false" rot="0">
              <a:off x="0" y="0"/>
              <a:ext cx="887556" cy="852054"/>
            </a:xfrm>
            <a:custGeom>
              <a:avLst/>
              <a:gdLst/>
              <a:ahLst/>
              <a:cxnLst/>
              <a:rect r="r" b="b" t="t" l="l"/>
              <a:pathLst>
                <a:path h="852054" w="887556">
                  <a:moveTo>
                    <a:pt x="0" y="0"/>
                  </a:moveTo>
                  <a:lnTo>
                    <a:pt x="887556" y="0"/>
                  </a:lnTo>
                  <a:lnTo>
                    <a:pt x="887556" y="852054"/>
                  </a:lnTo>
                  <a:lnTo>
                    <a:pt x="0" y="8520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142277" y="64033"/>
              <a:ext cx="3564185" cy="621871"/>
            </a:xfrm>
            <a:prstGeom prst="rect">
              <a:avLst/>
            </a:prstGeom>
          </p:spPr>
          <p:txBody>
            <a:bodyPr anchor="t" rtlCol="false" tIns="0" lIns="0" bIns="0" rIns="0">
              <a:spAutoFit/>
            </a:bodyPr>
            <a:lstStyle/>
            <a:p>
              <a:pPr algn="l" marL="0" indent="0" lvl="0">
                <a:lnSpc>
                  <a:spcPts val="3955"/>
                </a:lnSpc>
              </a:pPr>
              <a:r>
                <a:rPr lang="en-US" b="true" sz="2825">
                  <a:solidFill>
                    <a:srgbClr val="FFFFFF"/>
                  </a:solidFill>
                  <a:latin typeface="Lato Bold"/>
                  <a:ea typeface="Lato Bold"/>
                  <a:cs typeface="Lato Bold"/>
                  <a:sym typeface="Lato Bold"/>
                </a:rPr>
                <a:t>Địa Lí Trái Đất</a:t>
              </a:r>
            </a:p>
          </p:txBody>
        </p:sp>
      </p:grpSp>
      <p:grpSp>
        <p:nvGrpSpPr>
          <p:cNvPr name="Group 6" id="6"/>
          <p:cNvGrpSpPr/>
          <p:nvPr/>
        </p:nvGrpSpPr>
        <p:grpSpPr>
          <a:xfrm rot="0">
            <a:off x="2767845" y="5143500"/>
            <a:ext cx="12752310" cy="2527026"/>
            <a:chOff x="0" y="0"/>
            <a:chExt cx="3358633" cy="665554"/>
          </a:xfrm>
        </p:grpSpPr>
        <p:sp>
          <p:nvSpPr>
            <p:cNvPr name="Freeform 7" id="7"/>
            <p:cNvSpPr/>
            <p:nvPr/>
          </p:nvSpPr>
          <p:spPr>
            <a:xfrm flipH="false" flipV="false" rot="0">
              <a:off x="0" y="0"/>
              <a:ext cx="3358633" cy="665554"/>
            </a:xfrm>
            <a:custGeom>
              <a:avLst/>
              <a:gdLst/>
              <a:ahLst/>
              <a:cxnLst/>
              <a:rect r="r" b="b" t="t" l="l"/>
              <a:pathLst>
                <a:path h="665554" w="3358633">
                  <a:moveTo>
                    <a:pt x="18213" y="0"/>
                  </a:moveTo>
                  <a:lnTo>
                    <a:pt x="3340420" y="0"/>
                  </a:lnTo>
                  <a:cubicBezTo>
                    <a:pt x="3350479" y="0"/>
                    <a:pt x="3358633" y="8154"/>
                    <a:pt x="3358633" y="18213"/>
                  </a:cubicBezTo>
                  <a:lnTo>
                    <a:pt x="3358633" y="647341"/>
                  </a:lnTo>
                  <a:cubicBezTo>
                    <a:pt x="3358633" y="657400"/>
                    <a:pt x="3350479" y="665554"/>
                    <a:pt x="3340420" y="665554"/>
                  </a:cubicBezTo>
                  <a:lnTo>
                    <a:pt x="18213" y="665554"/>
                  </a:lnTo>
                  <a:cubicBezTo>
                    <a:pt x="13383" y="665554"/>
                    <a:pt x="8750" y="663635"/>
                    <a:pt x="5334" y="660220"/>
                  </a:cubicBezTo>
                  <a:cubicBezTo>
                    <a:pt x="1919" y="656804"/>
                    <a:pt x="0" y="652172"/>
                    <a:pt x="0" y="647341"/>
                  </a:cubicBezTo>
                  <a:lnTo>
                    <a:pt x="0" y="18213"/>
                  </a:lnTo>
                  <a:cubicBezTo>
                    <a:pt x="0" y="8154"/>
                    <a:pt x="8154" y="0"/>
                    <a:pt x="18213" y="0"/>
                  </a:cubicBezTo>
                  <a:close/>
                </a:path>
              </a:pathLst>
            </a:custGeom>
            <a:solidFill>
              <a:srgbClr val="FFFFFF"/>
            </a:solidFill>
          </p:spPr>
        </p:sp>
        <p:sp>
          <p:nvSpPr>
            <p:cNvPr name="TextBox 8" id="8"/>
            <p:cNvSpPr txBox="true"/>
            <p:nvPr/>
          </p:nvSpPr>
          <p:spPr>
            <a:xfrm>
              <a:off x="0" y="-38100"/>
              <a:ext cx="3358633" cy="703654"/>
            </a:xfrm>
            <a:prstGeom prst="rect">
              <a:avLst/>
            </a:prstGeom>
          </p:spPr>
          <p:txBody>
            <a:bodyPr anchor="ctr" rtlCol="false" tIns="50800" lIns="50800" bIns="50800" rIns="50800"/>
            <a:lstStyle/>
            <a:p>
              <a:pPr algn="ctr" marL="0" indent="0" lvl="0">
                <a:lnSpc>
                  <a:spcPts val="2659"/>
                </a:lnSpc>
              </a:pPr>
            </a:p>
          </p:txBody>
        </p:sp>
      </p:grpSp>
      <p:sp>
        <p:nvSpPr>
          <p:cNvPr name="Freeform 9" id="9"/>
          <p:cNvSpPr/>
          <p:nvPr/>
        </p:nvSpPr>
        <p:spPr>
          <a:xfrm flipH="false" flipV="false" rot="0">
            <a:off x="4928329" y="5724872"/>
            <a:ext cx="539403" cy="539403"/>
          </a:xfrm>
          <a:custGeom>
            <a:avLst/>
            <a:gdLst/>
            <a:ahLst/>
            <a:cxnLst/>
            <a:rect r="r" b="b" t="t" l="l"/>
            <a:pathLst>
              <a:path h="539403" w="539403">
                <a:moveTo>
                  <a:pt x="0" y="0"/>
                </a:moveTo>
                <a:lnTo>
                  <a:pt x="539403" y="0"/>
                </a:lnTo>
                <a:lnTo>
                  <a:pt x="539403" y="539403"/>
                </a:lnTo>
                <a:lnTo>
                  <a:pt x="0" y="5394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4928329" y="6549751"/>
            <a:ext cx="539403" cy="539403"/>
          </a:xfrm>
          <a:custGeom>
            <a:avLst/>
            <a:gdLst/>
            <a:ahLst/>
            <a:cxnLst/>
            <a:rect r="r" b="b" t="t" l="l"/>
            <a:pathLst>
              <a:path h="539403" w="539403">
                <a:moveTo>
                  <a:pt x="0" y="0"/>
                </a:moveTo>
                <a:lnTo>
                  <a:pt x="539403" y="0"/>
                </a:lnTo>
                <a:lnTo>
                  <a:pt x="539403" y="539403"/>
                </a:lnTo>
                <a:lnTo>
                  <a:pt x="0" y="5394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9000291" y="5724872"/>
            <a:ext cx="539403" cy="539403"/>
          </a:xfrm>
          <a:custGeom>
            <a:avLst/>
            <a:gdLst/>
            <a:ahLst/>
            <a:cxnLst/>
            <a:rect r="r" b="b" t="t" l="l"/>
            <a:pathLst>
              <a:path h="539403" w="539403">
                <a:moveTo>
                  <a:pt x="0" y="0"/>
                </a:moveTo>
                <a:lnTo>
                  <a:pt x="539404" y="0"/>
                </a:lnTo>
                <a:lnTo>
                  <a:pt x="539404" y="539403"/>
                </a:lnTo>
                <a:lnTo>
                  <a:pt x="0" y="5394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9000291" y="6549751"/>
            <a:ext cx="539403" cy="539403"/>
          </a:xfrm>
          <a:custGeom>
            <a:avLst/>
            <a:gdLst/>
            <a:ahLst/>
            <a:cxnLst/>
            <a:rect r="r" b="b" t="t" l="l"/>
            <a:pathLst>
              <a:path h="539403" w="539403">
                <a:moveTo>
                  <a:pt x="0" y="0"/>
                </a:moveTo>
                <a:lnTo>
                  <a:pt x="539404" y="0"/>
                </a:lnTo>
                <a:lnTo>
                  <a:pt x="539404" y="539403"/>
                </a:lnTo>
                <a:lnTo>
                  <a:pt x="0" y="53940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3" id="13"/>
          <p:cNvSpPr txBox="true"/>
          <p:nvPr/>
        </p:nvSpPr>
        <p:spPr>
          <a:xfrm rot="0">
            <a:off x="2767845" y="1963348"/>
            <a:ext cx="12752310" cy="2290154"/>
          </a:xfrm>
          <a:prstGeom prst="rect">
            <a:avLst/>
          </a:prstGeom>
        </p:spPr>
        <p:txBody>
          <a:bodyPr anchor="t" rtlCol="false" tIns="0" lIns="0" bIns="0" rIns="0">
            <a:spAutoFit/>
          </a:bodyPr>
          <a:lstStyle/>
          <a:p>
            <a:pPr algn="ctr" marL="0" indent="0" lvl="0">
              <a:lnSpc>
                <a:spcPts val="18738"/>
              </a:lnSpc>
              <a:spcBef>
                <a:spcPct val="0"/>
              </a:spcBef>
            </a:pPr>
            <a:r>
              <a:rPr lang="en-US" b="true" sz="13384">
                <a:solidFill>
                  <a:srgbClr val="FFFFFF"/>
                </a:solidFill>
                <a:latin typeface="Open Sauce Bold"/>
                <a:ea typeface="Open Sauce Bold"/>
                <a:cs typeface="Open Sauce Bold"/>
                <a:sym typeface="Open Sauce Bold"/>
              </a:rPr>
              <a:t>CẢM ƠN!</a:t>
            </a:r>
          </a:p>
        </p:txBody>
      </p:sp>
      <p:sp>
        <p:nvSpPr>
          <p:cNvPr name="TextBox 14" id="14"/>
          <p:cNvSpPr txBox="true"/>
          <p:nvPr/>
        </p:nvSpPr>
        <p:spPr>
          <a:xfrm rot="0">
            <a:off x="5614981" y="5750099"/>
            <a:ext cx="2382520" cy="407670"/>
          </a:xfrm>
          <a:prstGeom prst="rect">
            <a:avLst/>
          </a:prstGeom>
        </p:spPr>
        <p:txBody>
          <a:bodyPr anchor="t" rtlCol="false" tIns="0" lIns="0" bIns="0" rIns="0">
            <a:spAutoFit/>
          </a:bodyPr>
          <a:lstStyle/>
          <a:p>
            <a:pPr algn="l" marL="0" indent="0" lvl="0">
              <a:lnSpc>
                <a:spcPts val="3254"/>
              </a:lnSpc>
            </a:pPr>
            <a:r>
              <a:rPr lang="en-US" b="true" sz="2325">
                <a:solidFill>
                  <a:srgbClr val="000000"/>
                </a:solidFill>
                <a:latin typeface="Lato Bold"/>
                <a:ea typeface="Lato Bold"/>
                <a:cs typeface="Lato Bold"/>
                <a:sym typeface="Lato Bold"/>
              </a:rPr>
              <a:t>@diaLiTraiDat</a:t>
            </a:r>
          </a:p>
        </p:txBody>
      </p:sp>
      <p:sp>
        <p:nvSpPr>
          <p:cNvPr name="TextBox 15" id="15"/>
          <p:cNvSpPr txBox="true"/>
          <p:nvPr/>
        </p:nvSpPr>
        <p:spPr>
          <a:xfrm rot="0">
            <a:off x="5614981" y="6574977"/>
            <a:ext cx="2382520" cy="407670"/>
          </a:xfrm>
          <a:prstGeom prst="rect">
            <a:avLst/>
          </a:prstGeom>
        </p:spPr>
        <p:txBody>
          <a:bodyPr anchor="t" rtlCol="false" tIns="0" lIns="0" bIns="0" rIns="0">
            <a:spAutoFit/>
          </a:bodyPr>
          <a:lstStyle/>
          <a:p>
            <a:pPr algn="l" marL="0" indent="0" lvl="0">
              <a:lnSpc>
                <a:spcPts val="3254"/>
              </a:lnSpc>
            </a:pPr>
            <a:r>
              <a:rPr lang="en-US" b="true" sz="2325">
                <a:solidFill>
                  <a:srgbClr val="000000"/>
                </a:solidFill>
                <a:latin typeface="Lato Bold"/>
                <a:ea typeface="Lato Bold"/>
                <a:cs typeface="Lato Bold"/>
                <a:sym typeface="Lato Bold"/>
              </a:rPr>
              <a:t>+123-456-7890</a:t>
            </a:r>
          </a:p>
        </p:txBody>
      </p:sp>
      <p:sp>
        <p:nvSpPr>
          <p:cNvPr name="TextBox 16" id="16"/>
          <p:cNvSpPr txBox="true"/>
          <p:nvPr/>
        </p:nvSpPr>
        <p:spPr>
          <a:xfrm rot="0">
            <a:off x="9678372" y="5750099"/>
            <a:ext cx="3681299" cy="407670"/>
          </a:xfrm>
          <a:prstGeom prst="rect">
            <a:avLst/>
          </a:prstGeom>
        </p:spPr>
        <p:txBody>
          <a:bodyPr anchor="t" rtlCol="false" tIns="0" lIns="0" bIns="0" rIns="0">
            <a:spAutoFit/>
          </a:bodyPr>
          <a:lstStyle/>
          <a:p>
            <a:pPr algn="l" marL="0" indent="0" lvl="0">
              <a:lnSpc>
                <a:spcPts val="3254"/>
              </a:lnSpc>
            </a:pPr>
            <a:r>
              <a:rPr lang="en-US" b="true" sz="2325">
                <a:solidFill>
                  <a:srgbClr val="000000"/>
                </a:solidFill>
                <a:latin typeface="Lato Bold"/>
                <a:ea typeface="Lato Bold"/>
                <a:cs typeface="Lato Bold"/>
                <a:sym typeface="Lato Bold"/>
              </a:rPr>
              <a:t>hoidap@diaLiTraiDat.edu.vn</a:t>
            </a:r>
          </a:p>
        </p:txBody>
      </p:sp>
      <p:sp>
        <p:nvSpPr>
          <p:cNvPr name="TextBox 17" id="17"/>
          <p:cNvSpPr txBox="true"/>
          <p:nvPr/>
        </p:nvSpPr>
        <p:spPr>
          <a:xfrm rot="0">
            <a:off x="9678372" y="6574977"/>
            <a:ext cx="3681299" cy="407670"/>
          </a:xfrm>
          <a:prstGeom prst="rect">
            <a:avLst/>
          </a:prstGeom>
        </p:spPr>
        <p:txBody>
          <a:bodyPr anchor="t" rtlCol="false" tIns="0" lIns="0" bIns="0" rIns="0">
            <a:spAutoFit/>
          </a:bodyPr>
          <a:lstStyle/>
          <a:p>
            <a:pPr algn="l" marL="0" indent="0" lvl="0">
              <a:lnSpc>
                <a:spcPts val="3254"/>
              </a:lnSpc>
            </a:pPr>
            <a:r>
              <a:rPr lang="en-US" b="true" sz="2325">
                <a:solidFill>
                  <a:srgbClr val="000000"/>
                </a:solidFill>
                <a:latin typeface="Lato Bold"/>
                <a:ea typeface="Lato Bold"/>
                <a:cs typeface="Lato Bold"/>
                <a:sym typeface="Lato Bold"/>
              </a:rPr>
              <a:t>www.diaLiTraiDat.edu.vn</a:t>
            </a:r>
          </a:p>
        </p:txBody>
      </p:sp>
      <p:sp>
        <p:nvSpPr>
          <p:cNvPr name="TextBox 18" id="18"/>
          <p:cNvSpPr txBox="true"/>
          <p:nvPr/>
        </p:nvSpPr>
        <p:spPr>
          <a:xfrm rot="0">
            <a:off x="2601572" y="8661400"/>
            <a:ext cx="13084856" cy="563982"/>
          </a:xfrm>
          <a:prstGeom prst="rect">
            <a:avLst/>
          </a:prstGeom>
        </p:spPr>
        <p:txBody>
          <a:bodyPr anchor="t" rtlCol="false" tIns="0" lIns="0" bIns="0" rIns="0">
            <a:spAutoFit/>
          </a:bodyPr>
          <a:lstStyle/>
          <a:p>
            <a:pPr algn="ctr" marL="0" indent="0" lvl="0">
              <a:lnSpc>
                <a:spcPts val="4614"/>
              </a:lnSpc>
            </a:pPr>
            <a:r>
              <a:rPr lang="en-US" b="true" sz="3296">
                <a:solidFill>
                  <a:srgbClr val="FFFFFF"/>
                </a:solidFill>
                <a:latin typeface="Lato Bold"/>
                <a:ea typeface="Lato Bold"/>
                <a:cs typeface="Lato Bold"/>
                <a:sym typeface="Lato Bold"/>
              </a:rPr>
              <a:t>Nội lực tạo nên và biến đổi địa hình Trái Đất – Hãy đặt câu hỏi của bạn!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DAHWQVvEG3E</dc:identifier>
  <dcterms:modified xsi:type="dcterms:W3CDTF">2011-08-01T06:04:30Z</dcterms:modified>
  <cp:revision>1</cp:revision>
  <dc:title>hạch</dc:title>
</cp:coreProperties>
</file>